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7"/>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p:cViewPr varScale="1">
        <p:scale>
          <a:sx n="78" d="100"/>
          <a:sy n="78" d="100"/>
        </p:scale>
        <p:origin x="878" y="62"/>
      </p:cViewPr>
      <p:guideLst/>
    </p:cSldViewPr>
  </p:slideViewPr>
  <p:notesTextViewPr>
    <p:cViewPr>
      <p:scale>
        <a:sx n="1" d="1"/>
        <a:sy n="1" d="1"/>
      </p:scale>
      <p:origin x="0" y="0"/>
    </p:cViewPr>
  </p:notesTextViewPr>
  <p:sorterViewPr>
    <p:cViewPr>
      <p:scale>
        <a:sx n="100" d="100"/>
        <a:sy n="100" d="100"/>
      </p:scale>
      <p:origin x="0" y="-629"/>
    </p:cViewPr>
  </p:sorter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notesMaster" Target="notesMasters/notesMaster1.xml"/><Relationship Id="rId30"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C30D6AE2-40DD-41C7-96A4-2773BE6F3652}" type="datetimeFigureOut">
              <a:rPr lang="en-IN" smtClean="0"/>
              <a:t>07-10-2026</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9649451-82B8-4049-B184-5E756521B883}" type="slidenum">
              <a:rPr lang="en-IN" smtClean="0"/>
              <a:t>‹#›</a:t>
            </a:fld>
            <a:endParaRPr lang="en-IN"/>
          </a:p>
        </p:txBody>
      </p:sp>
    </p:spTree>
    <p:extLst>
      <p:ext uri="{BB962C8B-B14F-4D97-AF65-F5344CB8AC3E}">
        <p14:creationId xmlns:p14="http://schemas.microsoft.com/office/powerpoint/2010/main" val="120007763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89649451-82B8-4049-B184-5E756521B883}" type="slidenum">
              <a:rPr lang="en-IN" smtClean="0"/>
              <a:t>6</a:t>
            </a:fld>
            <a:endParaRPr lang="en-IN"/>
          </a:p>
        </p:txBody>
      </p:sp>
    </p:spTree>
    <p:extLst>
      <p:ext uri="{BB962C8B-B14F-4D97-AF65-F5344CB8AC3E}">
        <p14:creationId xmlns:p14="http://schemas.microsoft.com/office/powerpoint/2010/main" val="406265839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89649451-82B8-4049-B184-5E756521B883}" type="slidenum">
              <a:rPr lang="en-IN" smtClean="0"/>
              <a:t>13</a:t>
            </a:fld>
            <a:endParaRPr lang="en-IN"/>
          </a:p>
        </p:txBody>
      </p:sp>
    </p:spTree>
    <p:extLst>
      <p:ext uri="{BB962C8B-B14F-4D97-AF65-F5344CB8AC3E}">
        <p14:creationId xmlns:p14="http://schemas.microsoft.com/office/powerpoint/2010/main" val="356957572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8543FC4-F013-AFCF-0069-214BA4EF0C93}"/>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D3F28D31-FA11-F734-D427-3D3260AB621A}"/>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70D9AE82-4991-1F4E-5A7C-AC149978E5C2}"/>
              </a:ext>
            </a:extLst>
          </p:cNvPr>
          <p:cNvSpPr>
            <a:spLocks noGrp="1"/>
          </p:cNvSpPr>
          <p:nvPr>
            <p:ph type="dt" sz="half" idx="10"/>
          </p:nvPr>
        </p:nvSpPr>
        <p:spPr/>
        <p:txBody>
          <a:bodyPr/>
          <a:lstStyle/>
          <a:p>
            <a:fld id="{645A7A0B-B4DC-4EEC-A201-457DB290165A}" type="datetimeFigureOut">
              <a:rPr lang="en-IN" smtClean="0"/>
              <a:t>07-10-2026</a:t>
            </a:fld>
            <a:endParaRPr lang="en-IN"/>
          </a:p>
        </p:txBody>
      </p:sp>
      <p:sp>
        <p:nvSpPr>
          <p:cNvPr id="5" name="Footer Placeholder 4">
            <a:extLst>
              <a:ext uri="{FF2B5EF4-FFF2-40B4-BE49-F238E27FC236}">
                <a16:creationId xmlns:a16="http://schemas.microsoft.com/office/drawing/2014/main" id="{2A6A6CFE-524F-8B0C-A29E-F20486478056}"/>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D579D065-84E4-0B6A-635F-C9C5D8ECF26B}"/>
              </a:ext>
            </a:extLst>
          </p:cNvPr>
          <p:cNvSpPr>
            <a:spLocks noGrp="1"/>
          </p:cNvSpPr>
          <p:nvPr>
            <p:ph type="sldNum" sz="quarter" idx="12"/>
          </p:nvPr>
        </p:nvSpPr>
        <p:spPr/>
        <p:txBody>
          <a:bodyPr/>
          <a:lstStyle/>
          <a:p>
            <a:fld id="{1F6DB6DF-3023-49BA-8D37-3B974317B135}" type="slidenum">
              <a:rPr lang="en-IN" smtClean="0"/>
              <a:t>‹#›</a:t>
            </a:fld>
            <a:endParaRPr lang="en-IN"/>
          </a:p>
        </p:txBody>
      </p:sp>
    </p:spTree>
    <p:extLst>
      <p:ext uri="{BB962C8B-B14F-4D97-AF65-F5344CB8AC3E}">
        <p14:creationId xmlns:p14="http://schemas.microsoft.com/office/powerpoint/2010/main" val="55673651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E33B178-2AF6-6272-6272-54E5692F618D}"/>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DB20FF57-9E37-9CFE-2952-DE26E83ECC56}"/>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B26E5501-835D-E59A-5B8D-2AF19AE8FDBD}"/>
              </a:ext>
            </a:extLst>
          </p:cNvPr>
          <p:cNvSpPr>
            <a:spLocks noGrp="1"/>
          </p:cNvSpPr>
          <p:nvPr>
            <p:ph type="dt" sz="half" idx="10"/>
          </p:nvPr>
        </p:nvSpPr>
        <p:spPr/>
        <p:txBody>
          <a:bodyPr/>
          <a:lstStyle/>
          <a:p>
            <a:fld id="{645A7A0B-B4DC-4EEC-A201-457DB290165A}" type="datetimeFigureOut">
              <a:rPr lang="en-IN" smtClean="0"/>
              <a:t>07-10-2026</a:t>
            </a:fld>
            <a:endParaRPr lang="en-IN"/>
          </a:p>
        </p:txBody>
      </p:sp>
      <p:sp>
        <p:nvSpPr>
          <p:cNvPr id="5" name="Footer Placeholder 4">
            <a:extLst>
              <a:ext uri="{FF2B5EF4-FFF2-40B4-BE49-F238E27FC236}">
                <a16:creationId xmlns:a16="http://schemas.microsoft.com/office/drawing/2014/main" id="{51B8E506-E351-E938-C92F-8C590D872135}"/>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665DC70B-A63D-A88F-4721-0CAEBC6B2B87}"/>
              </a:ext>
            </a:extLst>
          </p:cNvPr>
          <p:cNvSpPr>
            <a:spLocks noGrp="1"/>
          </p:cNvSpPr>
          <p:nvPr>
            <p:ph type="sldNum" sz="quarter" idx="12"/>
          </p:nvPr>
        </p:nvSpPr>
        <p:spPr/>
        <p:txBody>
          <a:bodyPr/>
          <a:lstStyle/>
          <a:p>
            <a:fld id="{1F6DB6DF-3023-49BA-8D37-3B974317B135}" type="slidenum">
              <a:rPr lang="en-IN" smtClean="0"/>
              <a:t>‹#›</a:t>
            </a:fld>
            <a:endParaRPr lang="en-IN"/>
          </a:p>
        </p:txBody>
      </p:sp>
    </p:spTree>
    <p:extLst>
      <p:ext uri="{BB962C8B-B14F-4D97-AF65-F5344CB8AC3E}">
        <p14:creationId xmlns:p14="http://schemas.microsoft.com/office/powerpoint/2010/main" val="348893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59D702C-0AD7-271D-1A49-9B085560A93C}"/>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3C399A21-07E0-4B96-D154-B35D01EBE751}"/>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7147B8E4-6D8F-731B-CF17-64C6A0801CA3}"/>
              </a:ext>
            </a:extLst>
          </p:cNvPr>
          <p:cNvSpPr>
            <a:spLocks noGrp="1"/>
          </p:cNvSpPr>
          <p:nvPr>
            <p:ph type="dt" sz="half" idx="10"/>
          </p:nvPr>
        </p:nvSpPr>
        <p:spPr/>
        <p:txBody>
          <a:bodyPr/>
          <a:lstStyle/>
          <a:p>
            <a:fld id="{645A7A0B-B4DC-4EEC-A201-457DB290165A}" type="datetimeFigureOut">
              <a:rPr lang="en-IN" smtClean="0"/>
              <a:t>07-10-2026</a:t>
            </a:fld>
            <a:endParaRPr lang="en-IN"/>
          </a:p>
        </p:txBody>
      </p:sp>
      <p:sp>
        <p:nvSpPr>
          <p:cNvPr id="5" name="Footer Placeholder 4">
            <a:extLst>
              <a:ext uri="{FF2B5EF4-FFF2-40B4-BE49-F238E27FC236}">
                <a16:creationId xmlns:a16="http://schemas.microsoft.com/office/drawing/2014/main" id="{3C3CA141-3B33-2F19-3CA1-54541B45C768}"/>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74E6F2A8-F769-BE49-404D-2F39D195CEEB}"/>
              </a:ext>
            </a:extLst>
          </p:cNvPr>
          <p:cNvSpPr>
            <a:spLocks noGrp="1"/>
          </p:cNvSpPr>
          <p:nvPr>
            <p:ph type="sldNum" sz="quarter" idx="12"/>
          </p:nvPr>
        </p:nvSpPr>
        <p:spPr/>
        <p:txBody>
          <a:bodyPr/>
          <a:lstStyle/>
          <a:p>
            <a:fld id="{1F6DB6DF-3023-49BA-8D37-3B974317B135}" type="slidenum">
              <a:rPr lang="en-IN" smtClean="0"/>
              <a:t>‹#›</a:t>
            </a:fld>
            <a:endParaRPr lang="en-IN"/>
          </a:p>
        </p:txBody>
      </p:sp>
    </p:spTree>
    <p:extLst>
      <p:ext uri="{BB962C8B-B14F-4D97-AF65-F5344CB8AC3E}">
        <p14:creationId xmlns:p14="http://schemas.microsoft.com/office/powerpoint/2010/main" val="372398745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A340477-3FE1-68EB-1AED-68D3DD1C22CF}"/>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67DEAF44-A2E7-4993-1305-C6883DFA17C6}"/>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AC08067E-869C-ED90-DA1C-1E3B22E669FE}"/>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E281341F-298F-5E4E-EF86-05B235F1032F}"/>
              </a:ext>
            </a:extLst>
          </p:cNvPr>
          <p:cNvSpPr>
            <a:spLocks noGrp="1"/>
          </p:cNvSpPr>
          <p:nvPr>
            <p:ph type="dt" sz="half" idx="10"/>
          </p:nvPr>
        </p:nvSpPr>
        <p:spPr/>
        <p:txBody>
          <a:bodyPr/>
          <a:lstStyle/>
          <a:p>
            <a:fld id="{645A7A0B-B4DC-4EEC-A201-457DB290165A}" type="datetimeFigureOut">
              <a:rPr lang="en-IN" smtClean="0"/>
              <a:t>07-10-2026</a:t>
            </a:fld>
            <a:endParaRPr lang="en-IN"/>
          </a:p>
        </p:txBody>
      </p:sp>
      <p:sp>
        <p:nvSpPr>
          <p:cNvPr id="6" name="Footer Placeholder 5">
            <a:extLst>
              <a:ext uri="{FF2B5EF4-FFF2-40B4-BE49-F238E27FC236}">
                <a16:creationId xmlns:a16="http://schemas.microsoft.com/office/drawing/2014/main" id="{F68F7A81-02A4-567A-D635-42AD117CC460}"/>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CF179C8C-4D19-D99D-1E5F-871EB64E0E04}"/>
              </a:ext>
            </a:extLst>
          </p:cNvPr>
          <p:cNvSpPr>
            <a:spLocks noGrp="1"/>
          </p:cNvSpPr>
          <p:nvPr>
            <p:ph type="sldNum" sz="quarter" idx="12"/>
          </p:nvPr>
        </p:nvSpPr>
        <p:spPr/>
        <p:txBody>
          <a:bodyPr/>
          <a:lstStyle/>
          <a:p>
            <a:fld id="{1F6DB6DF-3023-49BA-8D37-3B974317B135}" type="slidenum">
              <a:rPr lang="en-IN" smtClean="0"/>
              <a:t>‹#›</a:t>
            </a:fld>
            <a:endParaRPr lang="en-IN"/>
          </a:p>
        </p:txBody>
      </p:sp>
    </p:spTree>
    <p:extLst>
      <p:ext uri="{BB962C8B-B14F-4D97-AF65-F5344CB8AC3E}">
        <p14:creationId xmlns:p14="http://schemas.microsoft.com/office/powerpoint/2010/main" val="80641069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560833F-5B79-1512-69E5-7D77393CD76B}"/>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C1680EB3-985F-F31E-4528-6B1C40372984}"/>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E4887B6B-EE87-E3DC-D3CB-FC684CD61D0E}"/>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983CD4A5-DF5B-81F3-A574-1546CC31EAAD}"/>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738C3921-D585-1E2F-BA32-E203AF315AA1}"/>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0E255882-91DB-3DAC-E35E-EA7A176338C0}"/>
              </a:ext>
            </a:extLst>
          </p:cNvPr>
          <p:cNvSpPr>
            <a:spLocks noGrp="1"/>
          </p:cNvSpPr>
          <p:nvPr>
            <p:ph type="dt" sz="half" idx="10"/>
          </p:nvPr>
        </p:nvSpPr>
        <p:spPr/>
        <p:txBody>
          <a:bodyPr/>
          <a:lstStyle/>
          <a:p>
            <a:fld id="{645A7A0B-B4DC-4EEC-A201-457DB290165A}" type="datetimeFigureOut">
              <a:rPr lang="en-IN" smtClean="0"/>
              <a:t>07-10-2026</a:t>
            </a:fld>
            <a:endParaRPr lang="en-IN"/>
          </a:p>
        </p:txBody>
      </p:sp>
      <p:sp>
        <p:nvSpPr>
          <p:cNvPr id="8" name="Footer Placeholder 7">
            <a:extLst>
              <a:ext uri="{FF2B5EF4-FFF2-40B4-BE49-F238E27FC236}">
                <a16:creationId xmlns:a16="http://schemas.microsoft.com/office/drawing/2014/main" id="{3232FE08-1251-7519-0ECA-9FEE96BC75CF}"/>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EBC5ED14-12D4-104B-670D-25D576A5218B}"/>
              </a:ext>
            </a:extLst>
          </p:cNvPr>
          <p:cNvSpPr>
            <a:spLocks noGrp="1"/>
          </p:cNvSpPr>
          <p:nvPr>
            <p:ph type="sldNum" sz="quarter" idx="12"/>
          </p:nvPr>
        </p:nvSpPr>
        <p:spPr/>
        <p:txBody>
          <a:bodyPr/>
          <a:lstStyle/>
          <a:p>
            <a:fld id="{1F6DB6DF-3023-49BA-8D37-3B974317B135}" type="slidenum">
              <a:rPr lang="en-IN" smtClean="0"/>
              <a:t>‹#›</a:t>
            </a:fld>
            <a:endParaRPr lang="en-IN"/>
          </a:p>
        </p:txBody>
      </p:sp>
    </p:spTree>
    <p:extLst>
      <p:ext uri="{BB962C8B-B14F-4D97-AF65-F5344CB8AC3E}">
        <p14:creationId xmlns:p14="http://schemas.microsoft.com/office/powerpoint/2010/main" val="395781494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F86D40-6D80-A611-B8F8-43089E74F276}"/>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6CCB86AC-4439-60E7-9969-E17B55E08A43}"/>
              </a:ext>
            </a:extLst>
          </p:cNvPr>
          <p:cNvSpPr>
            <a:spLocks noGrp="1"/>
          </p:cNvSpPr>
          <p:nvPr>
            <p:ph type="dt" sz="half" idx="10"/>
          </p:nvPr>
        </p:nvSpPr>
        <p:spPr/>
        <p:txBody>
          <a:bodyPr/>
          <a:lstStyle/>
          <a:p>
            <a:fld id="{645A7A0B-B4DC-4EEC-A201-457DB290165A}" type="datetimeFigureOut">
              <a:rPr lang="en-IN" smtClean="0"/>
              <a:t>07-10-2026</a:t>
            </a:fld>
            <a:endParaRPr lang="en-IN"/>
          </a:p>
        </p:txBody>
      </p:sp>
      <p:sp>
        <p:nvSpPr>
          <p:cNvPr id="4" name="Footer Placeholder 3">
            <a:extLst>
              <a:ext uri="{FF2B5EF4-FFF2-40B4-BE49-F238E27FC236}">
                <a16:creationId xmlns:a16="http://schemas.microsoft.com/office/drawing/2014/main" id="{599B3E1F-3128-BF61-CC26-040F391F7818}"/>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0C181C41-690D-8EDE-F014-4B805E6D8A94}"/>
              </a:ext>
            </a:extLst>
          </p:cNvPr>
          <p:cNvSpPr>
            <a:spLocks noGrp="1"/>
          </p:cNvSpPr>
          <p:nvPr>
            <p:ph type="sldNum" sz="quarter" idx="12"/>
          </p:nvPr>
        </p:nvSpPr>
        <p:spPr/>
        <p:txBody>
          <a:bodyPr/>
          <a:lstStyle/>
          <a:p>
            <a:fld id="{1F6DB6DF-3023-49BA-8D37-3B974317B135}" type="slidenum">
              <a:rPr lang="en-IN" smtClean="0"/>
              <a:t>‹#›</a:t>
            </a:fld>
            <a:endParaRPr lang="en-IN"/>
          </a:p>
        </p:txBody>
      </p:sp>
    </p:spTree>
    <p:extLst>
      <p:ext uri="{BB962C8B-B14F-4D97-AF65-F5344CB8AC3E}">
        <p14:creationId xmlns:p14="http://schemas.microsoft.com/office/powerpoint/2010/main" val="114811230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1A8FEF7F-0362-986C-3CD2-2D788B5CFDCA}"/>
              </a:ext>
            </a:extLst>
          </p:cNvPr>
          <p:cNvSpPr>
            <a:spLocks noGrp="1"/>
          </p:cNvSpPr>
          <p:nvPr>
            <p:ph type="dt" sz="half" idx="10"/>
          </p:nvPr>
        </p:nvSpPr>
        <p:spPr/>
        <p:txBody>
          <a:bodyPr/>
          <a:lstStyle/>
          <a:p>
            <a:fld id="{645A7A0B-B4DC-4EEC-A201-457DB290165A}" type="datetimeFigureOut">
              <a:rPr lang="en-IN" smtClean="0"/>
              <a:t>07-10-2026</a:t>
            </a:fld>
            <a:endParaRPr lang="en-IN"/>
          </a:p>
        </p:txBody>
      </p:sp>
      <p:sp>
        <p:nvSpPr>
          <p:cNvPr id="3" name="Footer Placeholder 2">
            <a:extLst>
              <a:ext uri="{FF2B5EF4-FFF2-40B4-BE49-F238E27FC236}">
                <a16:creationId xmlns:a16="http://schemas.microsoft.com/office/drawing/2014/main" id="{B06F5B53-65CB-7E8A-530B-61A72A7750FB}"/>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318B7F48-FD8B-7CD2-5213-4CB717EDE5E2}"/>
              </a:ext>
            </a:extLst>
          </p:cNvPr>
          <p:cNvSpPr>
            <a:spLocks noGrp="1"/>
          </p:cNvSpPr>
          <p:nvPr>
            <p:ph type="sldNum" sz="quarter" idx="12"/>
          </p:nvPr>
        </p:nvSpPr>
        <p:spPr/>
        <p:txBody>
          <a:bodyPr/>
          <a:lstStyle/>
          <a:p>
            <a:fld id="{1F6DB6DF-3023-49BA-8D37-3B974317B135}" type="slidenum">
              <a:rPr lang="en-IN" smtClean="0"/>
              <a:t>‹#›</a:t>
            </a:fld>
            <a:endParaRPr lang="en-IN"/>
          </a:p>
        </p:txBody>
      </p:sp>
    </p:spTree>
    <p:extLst>
      <p:ext uri="{BB962C8B-B14F-4D97-AF65-F5344CB8AC3E}">
        <p14:creationId xmlns:p14="http://schemas.microsoft.com/office/powerpoint/2010/main" val="339987279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AE3968C-0BAD-5AA4-CA3C-2AD0FD450AF8}"/>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DCC29F90-2D83-D46C-33F7-C7A896CC0DFE}"/>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3D413F87-11F6-7243-00CC-287B402A7E94}"/>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CF28AB62-5908-9CFF-C27F-F3D739B8BE06}"/>
              </a:ext>
            </a:extLst>
          </p:cNvPr>
          <p:cNvSpPr>
            <a:spLocks noGrp="1"/>
          </p:cNvSpPr>
          <p:nvPr>
            <p:ph type="dt" sz="half" idx="10"/>
          </p:nvPr>
        </p:nvSpPr>
        <p:spPr/>
        <p:txBody>
          <a:bodyPr/>
          <a:lstStyle/>
          <a:p>
            <a:fld id="{645A7A0B-B4DC-4EEC-A201-457DB290165A}" type="datetimeFigureOut">
              <a:rPr lang="en-IN" smtClean="0"/>
              <a:t>07-10-2026</a:t>
            </a:fld>
            <a:endParaRPr lang="en-IN"/>
          </a:p>
        </p:txBody>
      </p:sp>
      <p:sp>
        <p:nvSpPr>
          <p:cNvPr id="6" name="Footer Placeholder 5">
            <a:extLst>
              <a:ext uri="{FF2B5EF4-FFF2-40B4-BE49-F238E27FC236}">
                <a16:creationId xmlns:a16="http://schemas.microsoft.com/office/drawing/2014/main" id="{73379344-F7C1-0117-B7D2-38D80736E2E8}"/>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6BF05467-ABBE-0530-E57B-1E8EF3FEB08A}"/>
              </a:ext>
            </a:extLst>
          </p:cNvPr>
          <p:cNvSpPr>
            <a:spLocks noGrp="1"/>
          </p:cNvSpPr>
          <p:nvPr>
            <p:ph type="sldNum" sz="quarter" idx="12"/>
          </p:nvPr>
        </p:nvSpPr>
        <p:spPr/>
        <p:txBody>
          <a:bodyPr/>
          <a:lstStyle/>
          <a:p>
            <a:fld id="{1F6DB6DF-3023-49BA-8D37-3B974317B135}" type="slidenum">
              <a:rPr lang="en-IN" smtClean="0"/>
              <a:t>‹#›</a:t>
            </a:fld>
            <a:endParaRPr lang="en-IN"/>
          </a:p>
        </p:txBody>
      </p:sp>
    </p:spTree>
    <p:extLst>
      <p:ext uri="{BB962C8B-B14F-4D97-AF65-F5344CB8AC3E}">
        <p14:creationId xmlns:p14="http://schemas.microsoft.com/office/powerpoint/2010/main" val="22789897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F465356-D4F0-68B2-1314-EE1760D649A1}"/>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A21FDC4E-5BA9-5EEB-D4FA-D4EB228ADABD}"/>
              </a:ext>
            </a:extLst>
          </p:cNvPr>
          <p:cNvSpPr>
            <a:spLocks noGrp="1" noChangeAspect="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9117BE1A-E593-06B9-DD93-DA502428BDB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EBD1EE6C-5F3D-076D-DFCC-B19563CAF680}"/>
              </a:ext>
            </a:extLst>
          </p:cNvPr>
          <p:cNvSpPr>
            <a:spLocks noGrp="1"/>
          </p:cNvSpPr>
          <p:nvPr>
            <p:ph type="dt" sz="half" idx="10"/>
          </p:nvPr>
        </p:nvSpPr>
        <p:spPr/>
        <p:txBody>
          <a:bodyPr/>
          <a:lstStyle/>
          <a:p>
            <a:fld id="{645A7A0B-B4DC-4EEC-A201-457DB290165A}" type="datetimeFigureOut">
              <a:rPr lang="en-IN" smtClean="0"/>
              <a:t>07-10-2026</a:t>
            </a:fld>
            <a:endParaRPr lang="en-IN"/>
          </a:p>
        </p:txBody>
      </p:sp>
      <p:sp>
        <p:nvSpPr>
          <p:cNvPr id="6" name="Footer Placeholder 5">
            <a:extLst>
              <a:ext uri="{FF2B5EF4-FFF2-40B4-BE49-F238E27FC236}">
                <a16:creationId xmlns:a16="http://schemas.microsoft.com/office/drawing/2014/main" id="{F2595D78-20E0-10EF-F451-25BF0F57258C}"/>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24224ABD-A135-A95B-F14F-7E10DC940223}"/>
              </a:ext>
            </a:extLst>
          </p:cNvPr>
          <p:cNvSpPr>
            <a:spLocks noGrp="1"/>
          </p:cNvSpPr>
          <p:nvPr>
            <p:ph type="sldNum" sz="quarter" idx="12"/>
          </p:nvPr>
        </p:nvSpPr>
        <p:spPr/>
        <p:txBody>
          <a:bodyPr/>
          <a:lstStyle/>
          <a:p>
            <a:fld id="{1F6DB6DF-3023-49BA-8D37-3B974317B135}" type="slidenum">
              <a:rPr lang="en-IN" smtClean="0"/>
              <a:t>‹#›</a:t>
            </a:fld>
            <a:endParaRPr lang="en-IN"/>
          </a:p>
        </p:txBody>
      </p:sp>
    </p:spTree>
    <p:extLst>
      <p:ext uri="{BB962C8B-B14F-4D97-AF65-F5344CB8AC3E}">
        <p14:creationId xmlns:p14="http://schemas.microsoft.com/office/powerpoint/2010/main" val="221212328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0E87169-52F8-6915-F7EE-C78238B2BB4C}"/>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916BCF4F-F5DF-0116-EA27-D85B5D58D468}"/>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324FCAB2-2EC0-C774-59B5-264F33F40675}"/>
              </a:ext>
            </a:extLst>
          </p:cNvPr>
          <p:cNvSpPr>
            <a:spLocks noGrp="1"/>
          </p:cNvSpPr>
          <p:nvPr>
            <p:ph type="dt" sz="half" idx="10"/>
          </p:nvPr>
        </p:nvSpPr>
        <p:spPr/>
        <p:txBody>
          <a:bodyPr/>
          <a:lstStyle/>
          <a:p>
            <a:fld id="{645A7A0B-B4DC-4EEC-A201-457DB290165A}" type="datetimeFigureOut">
              <a:rPr lang="en-IN" smtClean="0"/>
              <a:t>07-10-2026</a:t>
            </a:fld>
            <a:endParaRPr lang="en-IN"/>
          </a:p>
        </p:txBody>
      </p:sp>
      <p:sp>
        <p:nvSpPr>
          <p:cNvPr id="5" name="Footer Placeholder 4">
            <a:extLst>
              <a:ext uri="{FF2B5EF4-FFF2-40B4-BE49-F238E27FC236}">
                <a16:creationId xmlns:a16="http://schemas.microsoft.com/office/drawing/2014/main" id="{68AA481F-95A8-6767-8F6A-CA22CB8F4AB4}"/>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5AD67CB2-741C-451D-D71F-E10EF4BC74F6}"/>
              </a:ext>
            </a:extLst>
          </p:cNvPr>
          <p:cNvSpPr>
            <a:spLocks noGrp="1"/>
          </p:cNvSpPr>
          <p:nvPr>
            <p:ph type="sldNum" sz="quarter" idx="12"/>
          </p:nvPr>
        </p:nvSpPr>
        <p:spPr/>
        <p:txBody>
          <a:bodyPr/>
          <a:lstStyle/>
          <a:p>
            <a:fld id="{1F6DB6DF-3023-49BA-8D37-3B974317B135}" type="slidenum">
              <a:rPr lang="en-IN" smtClean="0"/>
              <a:t>‹#›</a:t>
            </a:fld>
            <a:endParaRPr lang="en-IN"/>
          </a:p>
        </p:txBody>
      </p:sp>
    </p:spTree>
    <p:extLst>
      <p:ext uri="{BB962C8B-B14F-4D97-AF65-F5344CB8AC3E}">
        <p14:creationId xmlns:p14="http://schemas.microsoft.com/office/powerpoint/2010/main" val="171388755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1C5739CD-D83A-3560-3F4E-D3B51DFF2561}"/>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F7FAD318-9FDD-43DC-4A05-D296016E7B42}"/>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4C71C484-217C-D61D-339E-4FEAC1D53AB1}"/>
              </a:ext>
            </a:extLst>
          </p:cNvPr>
          <p:cNvSpPr>
            <a:spLocks noGrp="1"/>
          </p:cNvSpPr>
          <p:nvPr>
            <p:ph type="dt" sz="half" idx="10"/>
          </p:nvPr>
        </p:nvSpPr>
        <p:spPr/>
        <p:txBody>
          <a:bodyPr/>
          <a:lstStyle/>
          <a:p>
            <a:fld id="{645A7A0B-B4DC-4EEC-A201-457DB290165A}" type="datetimeFigureOut">
              <a:rPr lang="en-IN" smtClean="0"/>
              <a:t>07-10-2026</a:t>
            </a:fld>
            <a:endParaRPr lang="en-IN"/>
          </a:p>
        </p:txBody>
      </p:sp>
      <p:sp>
        <p:nvSpPr>
          <p:cNvPr id="5" name="Footer Placeholder 4">
            <a:extLst>
              <a:ext uri="{FF2B5EF4-FFF2-40B4-BE49-F238E27FC236}">
                <a16:creationId xmlns:a16="http://schemas.microsoft.com/office/drawing/2014/main" id="{5E0ECAF3-C658-23F3-8E5D-3CD46F24A994}"/>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A0DF6B9C-C307-543F-918B-F95C251812C9}"/>
              </a:ext>
            </a:extLst>
          </p:cNvPr>
          <p:cNvSpPr>
            <a:spLocks noGrp="1"/>
          </p:cNvSpPr>
          <p:nvPr>
            <p:ph type="sldNum" sz="quarter" idx="12"/>
          </p:nvPr>
        </p:nvSpPr>
        <p:spPr/>
        <p:txBody>
          <a:bodyPr/>
          <a:lstStyle/>
          <a:p>
            <a:fld id="{1F6DB6DF-3023-49BA-8D37-3B974317B135}" type="slidenum">
              <a:rPr lang="en-IN" smtClean="0"/>
              <a:t>‹#›</a:t>
            </a:fld>
            <a:endParaRPr lang="en-IN"/>
          </a:p>
        </p:txBody>
      </p:sp>
    </p:spTree>
    <p:extLst>
      <p:ext uri="{BB962C8B-B14F-4D97-AF65-F5344CB8AC3E}">
        <p14:creationId xmlns:p14="http://schemas.microsoft.com/office/powerpoint/2010/main" val="99412783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C2F8C435-EE92-EAF0-1F7A-86FC9C01072E}"/>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B31B6439-BD88-E1E0-4105-89DF9CA59761}"/>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9595E881-0FE4-9DAF-DF9F-2F4D7B264753}"/>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645A7A0B-B4DC-4EEC-A201-457DB290165A}" type="datetimeFigureOut">
              <a:rPr lang="en-IN" smtClean="0"/>
              <a:t>07-10-2026</a:t>
            </a:fld>
            <a:endParaRPr lang="en-IN"/>
          </a:p>
        </p:txBody>
      </p:sp>
      <p:sp>
        <p:nvSpPr>
          <p:cNvPr id="5" name="Footer Placeholder 4">
            <a:extLst>
              <a:ext uri="{FF2B5EF4-FFF2-40B4-BE49-F238E27FC236}">
                <a16:creationId xmlns:a16="http://schemas.microsoft.com/office/drawing/2014/main" id="{123A122C-BABB-101B-873B-CEAC66976510}"/>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a:extLst>
              <a:ext uri="{FF2B5EF4-FFF2-40B4-BE49-F238E27FC236}">
                <a16:creationId xmlns:a16="http://schemas.microsoft.com/office/drawing/2014/main" id="{FBD88D0D-1C02-5EB3-BBEF-5AE65230F9CE}"/>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1F6DB6DF-3023-49BA-8D37-3B974317B135}" type="slidenum">
              <a:rPr lang="en-IN" smtClean="0"/>
              <a:t>‹#›</a:t>
            </a:fld>
            <a:endParaRPr lang="en-IN"/>
          </a:p>
        </p:txBody>
      </p:sp>
    </p:spTree>
    <p:extLst>
      <p:ext uri="{BB962C8B-B14F-4D97-AF65-F5344CB8AC3E}">
        <p14:creationId xmlns:p14="http://schemas.microsoft.com/office/powerpoint/2010/main" val="484618581"/>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9.jpe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10.jpe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7F9484F-0A7C-3F5C-6113-3640E8226405}"/>
              </a:ext>
            </a:extLst>
          </p:cNvPr>
          <p:cNvSpPr>
            <a:spLocks noGrp="1"/>
          </p:cNvSpPr>
          <p:nvPr>
            <p:ph type="ctrTitle"/>
          </p:nvPr>
        </p:nvSpPr>
        <p:spPr>
          <a:xfrm>
            <a:off x="1524000" y="1122363"/>
            <a:ext cx="9144000" cy="804760"/>
          </a:xfrm>
        </p:spPr>
        <p:txBody>
          <a:bodyPr>
            <a:normAutofit/>
          </a:bodyPr>
          <a:lstStyle/>
          <a:p>
            <a:r>
              <a:rPr lang="en-US" sz="2800" b="1" dirty="0"/>
              <a:t>RMC (Ready mix concrete) Management system</a:t>
            </a:r>
            <a:endParaRPr lang="en-IN" sz="2800" b="1" dirty="0"/>
          </a:p>
        </p:txBody>
      </p:sp>
      <p:sp>
        <p:nvSpPr>
          <p:cNvPr id="3" name="Subtitle 2">
            <a:extLst>
              <a:ext uri="{FF2B5EF4-FFF2-40B4-BE49-F238E27FC236}">
                <a16:creationId xmlns:a16="http://schemas.microsoft.com/office/drawing/2014/main" id="{82089766-5704-2098-191C-8FB570945BCB}"/>
              </a:ext>
            </a:extLst>
          </p:cNvPr>
          <p:cNvSpPr>
            <a:spLocks noGrp="1"/>
          </p:cNvSpPr>
          <p:nvPr>
            <p:ph type="subTitle" idx="1"/>
          </p:nvPr>
        </p:nvSpPr>
        <p:spPr>
          <a:xfrm>
            <a:off x="1524000" y="2113935"/>
            <a:ext cx="9144000" cy="3143865"/>
          </a:xfrm>
        </p:spPr>
        <p:txBody>
          <a:bodyPr>
            <a:normAutofit/>
          </a:bodyPr>
          <a:lstStyle/>
          <a:p>
            <a:endParaRPr lang="en-US" sz="1400" dirty="0"/>
          </a:p>
          <a:p>
            <a:r>
              <a:rPr lang="en-IN" sz="2000" dirty="0"/>
              <a:t>Project Report</a:t>
            </a:r>
          </a:p>
          <a:p>
            <a:r>
              <a:rPr lang="en-IN" sz="2000" dirty="0"/>
              <a:t>Submitted by :Aryan </a:t>
            </a:r>
            <a:r>
              <a:rPr lang="en-IN" sz="2000" dirty="0" err="1"/>
              <a:t>wagh</a:t>
            </a:r>
            <a:r>
              <a:rPr lang="en-IN" sz="2000" dirty="0"/>
              <a:t> , Aditya </a:t>
            </a:r>
            <a:r>
              <a:rPr lang="en-IN" sz="2000" dirty="0" err="1"/>
              <a:t>yele</a:t>
            </a:r>
            <a:r>
              <a:rPr lang="en-IN" sz="2000" dirty="0"/>
              <a:t> , Rehan shaikh</a:t>
            </a:r>
          </a:p>
          <a:p>
            <a:r>
              <a:rPr lang="en-IN" sz="2000" dirty="0"/>
              <a:t>Class : S.Y.BSC(CS) ROLL NO :302,304,285</a:t>
            </a:r>
          </a:p>
          <a:p>
            <a:r>
              <a:rPr lang="en-IN" sz="2000" dirty="0" err="1"/>
              <a:t>Acedemic</a:t>
            </a:r>
            <a:r>
              <a:rPr lang="en-IN" sz="2000" dirty="0"/>
              <a:t> year : 2026-2027</a:t>
            </a:r>
          </a:p>
        </p:txBody>
      </p:sp>
    </p:spTree>
    <p:extLst>
      <p:ext uri="{BB962C8B-B14F-4D97-AF65-F5344CB8AC3E}">
        <p14:creationId xmlns:p14="http://schemas.microsoft.com/office/powerpoint/2010/main" val="424327376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C776203-DF08-EFE6-89D1-D3EED45F0724}"/>
              </a:ext>
            </a:extLst>
          </p:cNvPr>
          <p:cNvSpPr>
            <a:spLocks noGrp="1"/>
          </p:cNvSpPr>
          <p:nvPr>
            <p:ph type="title"/>
          </p:nvPr>
        </p:nvSpPr>
        <p:spPr/>
        <p:txBody>
          <a:bodyPr>
            <a:normAutofit/>
          </a:bodyPr>
          <a:lstStyle/>
          <a:p>
            <a:pPr algn="ctr"/>
            <a:r>
              <a:rPr lang="en-IN" sz="3600" b="1" dirty="0"/>
              <a:t>Introduction</a:t>
            </a:r>
          </a:p>
        </p:txBody>
      </p:sp>
      <p:sp>
        <p:nvSpPr>
          <p:cNvPr id="3" name="Content Placeholder 2">
            <a:extLst>
              <a:ext uri="{FF2B5EF4-FFF2-40B4-BE49-F238E27FC236}">
                <a16:creationId xmlns:a16="http://schemas.microsoft.com/office/drawing/2014/main" id="{1723A9CE-E363-7712-F72E-6FBAB7918D79}"/>
              </a:ext>
            </a:extLst>
          </p:cNvPr>
          <p:cNvSpPr>
            <a:spLocks noGrp="1"/>
          </p:cNvSpPr>
          <p:nvPr>
            <p:ph idx="1"/>
          </p:nvPr>
        </p:nvSpPr>
        <p:spPr/>
        <p:txBody>
          <a:bodyPr>
            <a:normAutofit/>
          </a:bodyPr>
          <a:lstStyle/>
          <a:p>
            <a:pPr marL="0" indent="0" algn="just">
              <a:buNone/>
            </a:pPr>
            <a:r>
              <a:rPr lang="en-IN" sz="2400" dirty="0"/>
              <a:t>The RMC (Ready Mix Concrete) Management System is a software application designed to automate the daily operations of an RMC business. It manages customer orders, production, delivery, vehicles, billing, and inventory.</a:t>
            </a:r>
          </a:p>
          <a:p>
            <a:pPr marL="0" indent="0" algn="just">
              <a:buNone/>
            </a:pPr>
            <a:r>
              <a:rPr lang="en-IN" sz="2400" dirty="0"/>
              <a:t>The system reduces manual work, saves time, minimizes errors, and stores business information digitally. It also generates reports for sales, deliveries, and stock, helping management make better decisions.</a:t>
            </a:r>
          </a:p>
          <a:p>
            <a:pPr marL="0" indent="0" algn="just">
              <a:buNone/>
            </a:pPr>
            <a:r>
              <a:rPr lang="en-IN" sz="2400" dirty="0"/>
              <a:t>This project demonstrates the practical use of DBMS, Software Engineering, and System Design in solving real-world business problems.</a:t>
            </a:r>
          </a:p>
          <a:p>
            <a:pPr marL="0" indent="0">
              <a:buNone/>
            </a:pPr>
            <a:endParaRPr lang="en-IN" dirty="0"/>
          </a:p>
        </p:txBody>
      </p:sp>
    </p:spTree>
    <p:extLst>
      <p:ext uri="{BB962C8B-B14F-4D97-AF65-F5344CB8AC3E}">
        <p14:creationId xmlns:p14="http://schemas.microsoft.com/office/powerpoint/2010/main" val="12961272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65C8E2-F0B5-EA57-88D3-317E5CC121A1}"/>
              </a:ext>
            </a:extLst>
          </p:cNvPr>
          <p:cNvSpPr>
            <a:spLocks noGrp="1"/>
          </p:cNvSpPr>
          <p:nvPr>
            <p:ph type="title"/>
          </p:nvPr>
        </p:nvSpPr>
        <p:spPr/>
        <p:txBody>
          <a:bodyPr>
            <a:normAutofit/>
          </a:bodyPr>
          <a:lstStyle/>
          <a:p>
            <a:pPr algn="ctr"/>
            <a:r>
              <a:rPr lang="en-IN" sz="3600" b="1" dirty="0"/>
              <a:t>Preliminary Investigation and its activity </a:t>
            </a:r>
          </a:p>
        </p:txBody>
      </p:sp>
      <p:sp>
        <p:nvSpPr>
          <p:cNvPr id="3" name="Content Placeholder 2">
            <a:extLst>
              <a:ext uri="{FF2B5EF4-FFF2-40B4-BE49-F238E27FC236}">
                <a16:creationId xmlns:a16="http://schemas.microsoft.com/office/drawing/2014/main" id="{CA68C2C7-8A58-70B9-E115-E8532D5F8EC1}"/>
              </a:ext>
            </a:extLst>
          </p:cNvPr>
          <p:cNvSpPr>
            <a:spLocks noGrp="1"/>
          </p:cNvSpPr>
          <p:nvPr>
            <p:ph idx="1"/>
          </p:nvPr>
        </p:nvSpPr>
        <p:spPr/>
        <p:txBody>
          <a:bodyPr>
            <a:normAutofit/>
          </a:bodyPr>
          <a:lstStyle/>
          <a:p>
            <a:pPr marL="0" indent="0" algn="just">
              <a:buNone/>
            </a:pPr>
            <a:r>
              <a:rPr lang="en-IN" sz="2400" dirty="0"/>
              <a:t>This project is suitable for small and medium-sized RMC plants and serves as an excellent academic project for software engineering students. It demonstrates the practical application of database management, system analysis, software design, and user-interface development in solving real-world business problems.</a:t>
            </a:r>
          </a:p>
        </p:txBody>
      </p:sp>
    </p:spTree>
    <p:extLst>
      <p:ext uri="{BB962C8B-B14F-4D97-AF65-F5344CB8AC3E}">
        <p14:creationId xmlns:p14="http://schemas.microsoft.com/office/powerpoint/2010/main" val="365545384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EA80001-3DE3-D7D2-5C66-C793E0DB6503}"/>
              </a:ext>
            </a:extLst>
          </p:cNvPr>
          <p:cNvSpPr>
            <a:spLocks noGrp="1"/>
          </p:cNvSpPr>
          <p:nvPr>
            <p:ph type="title"/>
          </p:nvPr>
        </p:nvSpPr>
        <p:spPr/>
        <p:txBody>
          <a:bodyPr>
            <a:normAutofit/>
          </a:bodyPr>
          <a:lstStyle/>
          <a:p>
            <a:pPr algn="ctr"/>
            <a:r>
              <a:rPr lang="en-IN" sz="3600" b="1" dirty="0"/>
              <a:t>Problem identification</a:t>
            </a:r>
          </a:p>
        </p:txBody>
      </p:sp>
      <p:sp>
        <p:nvSpPr>
          <p:cNvPr id="3" name="Content Placeholder 2">
            <a:extLst>
              <a:ext uri="{FF2B5EF4-FFF2-40B4-BE49-F238E27FC236}">
                <a16:creationId xmlns:a16="http://schemas.microsoft.com/office/drawing/2014/main" id="{75045A1E-BEBB-9CF5-B7C4-09508387C957}"/>
              </a:ext>
            </a:extLst>
          </p:cNvPr>
          <p:cNvSpPr>
            <a:spLocks noGrp="1"/>
          </p:cNvSpPr>
          <p:nvPr>
            <p:ph idx="1"/>
          </p:nvPr>
        </p:nvSpPr>
        <p:spPr/>
        <p:txBody>
          <a:bodyPr>
            <a:normAutofit fontScale="92500"/>
          </a:bodyPr>
          <a:lstStyle/>
          <a:p>
            <a:pPr marL="457200" indent="-457200" algn="just">
              <a:buAutoNum type="arabicPeriod"/>
            </a:pPr>
            <a:r>
              <a:rPr lang="en-IN" sz="2400" dirty="0"/>
              <a:t>Manual order paper working management leads to data entry errors and misplaced records. </a:t>
            </a:r>
          </a:p>
          <a:p>
            <a:pPr marL="457200" indent="-457200" algn="just">
              <a:buAutoNum type="arabicPeriod"/>
            </a:pPr>
            <a:r>
              <a:rPr lang="en-IN" sz="2400" dirty="0"/>
              <a:t>Difficulty in tracking the status of customer orders and deliveries. </a:t>
            </a:r>
          </a:p>
          <a:p>
            <a:pPr marL="457200" indent="-457200" algn="just">
              <a:buAutoNum type="arabicPeriod"/>
            </a:pPr>
            <a:r>
              <a:rPr lang="en-IN" sz="2400" dirty="0"/>
              <a:t>Poor scheduling and allocation of mixer trucks, causing delivery delays. </a:t>
            </a:r>
          </a:p>
          <a:p>
            <a:pPr marL="457200" indent="-457200" algn="just">
              <a:buAutoNum type="arabicPeriod"/>
            </a:pPr>
            <a:r>
              <a:rPr lang="en-IN" sz="2400" dirty="0"/>
              <a:t>In accurate inventory management of raw materials such as cement, sand, aggregates, and water. </a:t>
            </a:r>
          </a:p>
          <a:p>
            <a:pPr marL="457200" indent="-457200" algn="just">
              <a:buAutoNum type="arabicPeriod"/>
            </a:pPr>
            <a:r>
              <a:rPr lang="en-IN" sz="2400" dirty="0"/>
              <a:t>Time-consuming billing and invoice generation. </a:t>
            </a:r>
          </a:p>
          <a:p>
            <a:pPr marL="457200" indent="-457200" algn="just">
              <a:buAutoNum type="arabicPeriod"/>
            </a:pPr>
            <a:r>
              <a:rPr lang="en-IN" sz="2400" dirty="0"/>
              <a:t>Lack of centralized data, making report generation and decision-making difficult. </a:t>
            </a:r>
          </a:p>
          <a:p>
            <a:pPr marL="457200" indent="-457200" algn="just">
              <a:buAutoNum type="arabicPeriod"/>
            </a:pPr>
            <a:r>
              <a:rPr lang="en-IN" sz="2400" dirty="0"/>
              <a:t>Increased paperwork, resulting in higher administrative costs and reduced efficiency. </a:t>
            </a:r>
          </a:p>
          <a:p>
            <a:pPr marL="457200" indent="-457200" algn="just">
              <a:buAutoNum type="arabicPeriod"/>
            </a:pPr>
            <a:r>
              <a:rPr lang="en-IN" sz="2400" dirty="0"/>
              <a:t>Limited communication between production, dispatch and management teams</a:t>
            </a:r>
          </a:p>
        </p:txBody>
      </p:sp>
    </p:spTree>
    <p:extLst>
      <p:ext uri="{BB962C8B-B14F-4D97-AF65-F5344CB8AC3E}">
        <p14:creationId xmlns:p14="http://schemas.microsoft.com/office/powerpoint/2010/main" val="204214152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8A12D64-DF66-7F34-1547-90457156AD06}"/>
              </a:ext>
            </a:extLst>
          </p:cNvPr>
          <p:cNvSpPr>
            <a:spLocks noGrp="1"/>
          </p:cNvSpPr>
          <p:nvPr>
            <p:ph type="title"/>
          </p:nvPr>
        </p:nvSpPr>
        <p:spPr/>
        <p:txBody>
          <a:bodyPr>
            <a:normAutofit/>
          </a:bodyPr>
          <a:lstStyle/>
          <a:p>
            <a:pPr algn="ctr"/>
            <a:r>
              <a:rPr lang="en-IN" sz="3600" b="1" dirty="0"/>
              <a:t>Problem Definition </a:t>
            </a:r>
          </a:p>
        </p:txBody>
      </p:sp>
      <p:sp>
        <p:nvSpPr>
          <p:cNvPr id="3" name="Content Placeholder 2">
            <a:extLst>
              <a:ext uri="{FF2B5EF4-FFF2-40B4-BE49-F238E27FC236}">
                <a16:creationId xmlns:a16="http://schemas.microsoft.com/office/drawing/2014/main" id="{3D3B029A-372D-273A-E23C-B288461C6D02}"/>
              </a:ext>
            </a:extLst>
          </p:cNvPr>
          <p:cNvSpPr>
            <a:spLocks noGrp="1"/>
          </p:cNvSpPr>
          <p:nvPr>
            <p:ph idx="1"/>
          </p:nvPr>
        </p:nvSpPr>
        <p:spPr/>
        <p:txBody>
          <a:bodyPr>
            <a:normAutofit/>
          </a:bodyPr>
          <a:lstStyle/>
          <a:p>
            <a:pPr marL="0" indent="0" algn="just">
              <a:buNone/>
            </a:pPr>
            <a:r>
              <a:rPr lang="en-IN" sz="2400" dirty="0"/>
              <a:t>The existing RMC (Ready Mix concrete) management process is manual and time-consuming, leading to errors in order management, billing, inventory, and delivery scheduling. It is difficult to maintain accurate records and track customer order efficiently. The proposed RMC Management System automates these processes, reduces paperwork, improves accuracy, saves time, and provides better management of orders, inventory, deliveries and billing.</a:t>
            </a:r>
          </a:p>
        </p:txBody>
      </p:sp>
    </p:spTree>
    <p:extLst>
      <p:ext uri="{BB962C8B-B14F-4D97-AF65-F5344CB8AC3E}">
        <p14:creationId xmlns:p14="http://schemas.microsoft.com/office/powerpoint/2010/main" val="216927840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D585D15-B4A2-DDA0-58C3-247BA94A1723}"/>
              </a:ext>
            </a:extLst>
          </p:cNvPr>
          <p:cNvSpPr>
            <a:spLocks noGrp="1"/>
          </p:cNvSpPr>
          <p:nvPr>
            <p:ph type="title"/>
          </p:nvPr>
        </p:nvSpPr>
        <p:spPr/>
        <p:txBody>
          <a:bodyPr>
            <a:normAutofit/>
          </a:bodyPr>
          <a:lstStyle/>
          <a:p>
            <a:pPr algn="ctr"/>
            <a:r>
              <a:rPr lang="en-IN" sz="3600" b="1" dirty="0"/>
              <a:t>Fact Finding Technique</a:t>
            </a:r>
          </a:p>
        </p:txBody>
      </p:sp>
      <p:sp>
        <p:nvSpPr>
          <p:cNvPr id="3" name="Content Placeholder 2">
            <a:extLst>
              <a:ext uri="{FF2B5EF4-FFF2-40B4-BE49-F238E27FC236}">
                <a16:creationId xmlns:a16="http://schemas.microsoft.com/office/drawing/2014/main" id="{AC195C1A-9D02-0ECA-C9D5-C68E6DC177A3}"/>
              </a:ext>
            </a:extLst>
          </p:cNvPr>
          <p:cNvSpPr>
            <a:spLocks noGrp="1"/>
          </p:cNvSpPr>
          <p:nvPr>
            <p:ph idx="1"/>
          </p:nvPr>
        </p:nvSpPr>
        <p:spPr/>
        <p:txBody>
          <a:bodyPr>
            <a:normAutofit fontScale="92500" lnSpcReduction="10000"/>
          </a:bodyPr>
          <a:lstStyle/>
          <a:p>
            <a:pPr marL="0" indent="0">
              <a:spcAft>
                <a:spcPts val="100"/>
              </a:spcAft>
              <a:buNone/>
              <a:defRPr sz="1250" b="1">
                <a:solidFill>
                  <a:srgbClr val="191919"/>
                </a:solidFill>
                <a:latin typeface="Arial"/>
              </a:defRPr>
            </a:pPr>
            <a:r>
              <a:rPr lang="en-US" dirty="0"/>
              <a:t>1. What is the concrete preparation process like in your RMC plant?</a:t>
            </a:r>
          </a:p>
          <a:p>
            <a:pPr marL="0" indent="0">
              <a:spcAft>
                <a:spcPts val="500"/>
              </a:spcAft>
              <a:buNone/>
              <a:defRPr sz="1050">
                <a:solidFill>
                  <a:srgbClr val="2D2D2D"/>
                </a:solidFill>
                <a:latin typeface="Arial"/>
              </a:defRPr>
            </a:pPr>
            <a:r>
              <a:rPr lang="en-US" dirty="0"/>
              <a:t>→ Raw materials → Batching → Mixing → Quality testing → Loading → Transportation → Site delivery.</a:t>
            </a:r>
          </a:p>
          <a:p>
            <a:pPr marL="0" indent="0">
              <a:spcAft>
                <a:spcPts val="100"/>
              </a:spcAft>
              <a:buNone/>
              <a:defRPr sz="1250" b="1">
                <a:solidFill>
                  <a:srgbClr val="191919"/>
                </a:solidFill>
                <a:latin typeface="Arial"/>
              </a:defRPr>
            </a:pPr>
            <a:r>
              <a:rPr lang="en-US" dirty="0"/>
              <a:t>2. What customer information is collected?</a:t>
            </a:r>
          </a:p>
          <a:p>
            <a:pPr marL="0" indent="0">
              <a:spcAft>
                <a:spcPts val="500"/>
              </a:spcAft>
              <a:buNone/>
              <a:defRPr sz="1050">
                <a:solidFill>
                  <a:srgbClr val="2D2D2D"/>
                </a:solidFill>
                <a:latin typeface="Arial"/>
              </a:defRPr>
            </a:pPr>
            <a:r>
              <a:rPr lang="en-US" dirty="0"/>
              <a:t>→ Customer name and contact number; Address; Project / site details; Concrete type / grade required; Order quantity; Delivery date and time; Payment details; Order history.</a:t>
            </a:r>
          </a:p>
          <a:p>
            <a:pPr marL="0" indent="0">
              <a:spcAft>
                <a:spcPts val="100"/>
              </a:spcAft>
              <a:buNone/>
              <a:defRPr sz="1250" b="1">
                <a:solidFill>
                  <a:srgbClr val="191919"/>
                </a:solidFill>
                <a:latin typeface="Arial"/>
              </a:defRPr>
            </a:pPr>
            <a:r>
              <a:rPr lang="en-US" dirty="0"/>
              <a:t>3. How many orders do you usually receive in a day?</a:t>
            </a:r>
          </a:p>
          <a:p>
            <a:pPr marL="0" indent="0">
              <a:spcAft>
                <a:spcPts val="500"/>
              </a:spcAft>
              <a:buNone/>
              <a:defRPr sz="1050">
                <a:solidFill>
                  <a:srgbClr val="2D2D2D"/>
                </a:solidFill>
                <a:latin typeface="Arial"/>
              </a:defRPr>
            </a:pPr>
            <a:r>
              <a:rPr lang="en-US" dirty="0"/>
              <a:t>→ RMC plant may receive around 10–20 orders per day.</a:t>
            </a:r>
          </a:p>
          <a:p>
            <a:pPr marL="0" indent="0">
              <a:spcAft>
                <a:spcPts val="100"/>
              </a:spcAft>
              <a:buNone/>
              <a:defRPr sz="1250" b="1">
                <a:solidFill>
                  <a:srgbClr val="191919"/>
                </a:solidFill>
                <a:latin typeface="Arial"/>
              </a:defRPr>
            </a:pPr>
            <a:r>
              <a:rPr lang="en-US" dirty="0"/>
              <a:t>4. How is the status of the order tracked?</a:t>
            </a:r>
          </a:p>
          <a:p>
            <a:pPr marL="0" indent="0">
              <a:spcAft>
                <a:spcPts val="500"/>
              </a:spcAft>
              <a:buNone/>
              <a:defRPr sz="1050">
                <a:solidFill>
                  <a:srgbClr val="2D2D2D"/>
                </a:solidFill>
                <a:latin typeface="Arial"/>
              </a:defRPr>
            </a:pPr>
            <a:r>
              <a:rPr lang="en-US" dirty="0"/>
              <a:t>→ Order Received → Confirmed → In production → Dispatch → Delivered → Completed.</a:t>
            </a:r>
          </a:p>
          <a:p>
            <a:pPr marL="0" indent="0">
              <a:spcAft>
                <a:spcPts val="100"/>
              </a:spcAft>
              <a:buNone/>
              <a:defRPr sz="1250" b="1">
                <a:solidFill>
                  <a:srgbClr val="191919"/>
                </a:solidFill>
                <a:latin typeface="Arial"/>
              </a:defRPr>
            </a:pPr>
            <a:r>
              <a:rPr lang="en-US" dirty="0"/>
              <a:t>5. How is an order cancelled recorded?</a:t>
            </a:r>
          </a:p>
          <a:p>
            <a:pPr marL="0" indent="0">
              <a:spcAft>
                <a:spcPts val="500"/>
              </a:spcAft>
              <a:buNone/>
              <a:defRPr sz="1050">
                <a:solidFill>
                  <a:srgbClr val="2D2D2D"/>
                </a:solidFill>
                <a:latin typeface="Arial"/>
              </a:defRPr>
            </a:pPr>
            <a:r>
              <a:rPr lang="en-US" dirty="0"/>
              <a:t>→ Order ID; Customer name; Cancellation date; Reason for cancellation; Cancelled by.</a:t>
            </a:r>
          </a:p>
          <a:p>
            <a:pPr marL="0" indent="0">
              <a:spcAft>
                <a:spcPts val="100"/>
              </a:spcAft>
              <a:buNone/>
              <a:defRPr sz="1250" b="1">
                <a:solidFill>
                  <a:srgbClr val="191919"/>
                </a:solidFill>
                <a:latin typeface="Arial"/>
              </a:defRPr>
            </a:pPr>
            <a:r>
              <a:rPr lang="en-US" dirty="0"/>
              <a:t>6. What types of concrete are available?</a:t>
            </a:r>
          </a:p>
          <a:p>
            <a:pPr marL="0" indent="0">
              <a:spcAft>
                <a:spcPts val="500"/>
              </a:spcAft>
              <a:buNone/>
              <a:defRPr sz="1050">
                <a:solidFill>
                  <a:srgbClr val="2D2D2D"/>
                </a:solidFill>
                <a:latin typeface="Arial"/>
              </a:defRPr>
            </a:pPr>
            <a:r>
              <a:rPr lang="en-US" dirty="0"/>
              <a:t>→ M20, M25, M30, M35 and M40 grades; Normal / standard concrete; High-strength concrete.</a:t>
            </a:r>
          </a:p>
          <a:p>
            <a:pPr marL="0" indent="0">
              <a:spcAft>
                <a:spcPts val="100"/>
              </a:spcAft>
              <a:buNone/>
              <a:defRPr sz="1250" b="1">
                <a:solidFill>
                  <a:srgbClr val="191919"/>
                </a:solidFill>
                <a:latin typeface="Arial"/>
              </a:defRPr>
            </a:pPr>
            <a:r>
              <a:rPr lang="en-US" dirty="0"/>
              <a:t>7. What raw materials are used to make concrete?</a:t>
            </a:r>
          </a:p>
          <a:p>
            <a:pPr marL="0" indent="0">
              <a:spcAft>
                <a:spcPts val="500"/>
              </a:spcAft>
              <a:buNone/>
              <a:defRPr sz="1050">
                <a:solidFill>
                  <a:srgbClr val="2D2D2D"/>
                </a:solidFill>
                <a:latin typeface="Arial"/>
              </a:defRPr>
            </a:pPr>
            <a:r>
              <a:rPr lang="en-US" dirty="0"/>
              <a:t>→ Cement, fine aggregate (sand), coarse aggregate (stone / gravel), water, and admixtures (if required).</a:t>
            </a:r>
            <a:br>
              <a:rPr lang="en-US" dirty="0"/>
            </a:br>
            <a:endParaRPr lang="en-US" dirty="0"/>
          </a:p>
          <a:p>
            <a:pPr marL="0" indent="0">
              <a:buNone/>
            </a:pPr>
            <a:endParaRPr lang="en-IN" dirty="0"/>
          </a:p>
        </p:txBody>
      </p:sp>
    </p:spTree>
    <p:extLst>
      <p:ext uri="{BB962C8B-B14F-4D97-AF65-F5344CB8AC3E}">
        <p14:creationId xmlns:p14="http://schemas.microsoft.com/office/powerpoint/2010/main" val="247465058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185C9A2-6827-F905-ED2A-7F44C5207058}"/>
              </a:ext>
            </a:extLst>
          </p:cNvPr>
          <p:cNvSpPr>
            <a:spLocks noGrp="1"/>
          </p:cNvSpPr>
          <p:nvPr>
            <p:ph type="title"/>
          </p:nvPr>
        </p:nvSpPr>
        <p:spPr/>
        <p:txBody>
          <a:bodyPr>
            <a:normAutofit/>
          </a:bodyPr>
          <a:lstStyle/>
          <a:p>
            <a:pPr algn="ctr"/>
            <a:r>
              <a:rPr lang="en-IN" sz="3600" b="1" dirty="0"/>
              <a:t>Fact Finding Technique</a:t>
            </a:r>
          </a:p>
        </p:txBody>
      </p:sp>
      <p:sp>
        <p:nvSpPr>
          <p:cNvPr id="3" name="Content Placeholder 2">
            <a:extLst>
              <a:ext uri="{FF2B5EF4-FFF2-40B4-BE49-F238E27FC236}">
                <a16:creationId xmlns:a16="http://schemas.microsoft.com/office/drawing/2014/main" id="{BA1E0501-FF94-3036-FF1A-3B248201B151}"/>
              </a:ext>
            </a:extLst>
          </p:cNvPr>
          <p:cNvSpPr>
            <a:spLocks noGrp="1"/>
          </p:cNvSpPr>
          <p:nvPr>
            <p:ph idx="1"/>
          </p:nvPr>
        </p:nvSpPr>
        <p:spPr>
          <a:xfrm>
            <a:off x="838200" y="1884618"/>
            <a:ext cx="10515600" cy="4351338"/>
          </a:xfrm>
        </p:spPr>
        <p:txBody>
          <a:bodyPr>
            <a:normAutofit fontScale="92500" lnSpcReduction="10000"/>
          </a:bodyPr>
          <a:lstStyle/>
          <a:p>
            <a:pPr algn="just">
              <a:spcAft>
                <a:spcPts val="100"/>
              </a:spcAft>
              <a:defRPr sz="1250" b="1">
                <a:solidFill>
                  <a:srgbClr val="191919"/>
                </a:solidFill>
                <a:latin typeface="Arial"/>
              </a:defRPr>
            </a:pPr>
            <a:r>
              <a:rPr lang="en-US" dirty="0"/>
              <a:t>8. How is the quality of concrete checked?</a:t>
            </a:r>
          </a:p>
          <a:p>
            <a:pPr algn="just">
              <a:spcAft>
                <a:spcPts val="500"/>
              </a:spcAft>
              <a:defRPr sz="1050">
                <a:solidFill>
                  <a:srgbClr val="2D2D2D"/>
                </a:solidFill>
                <a:latin typeface="Arial"/>
              </a:defRPr>
            </a:pPr>
            <a:r>
              <a:rPr lang="en-US" dirty="0"/>
              <a:t>→ Slump test – checks workability; Cube test – checks compressive strength; Material testing – checks cement, sand and aggregates.</a:t>
            </a:r>
          </a:p>
          <a:p>
            <a:pPr algn="just">
              <a:spcAft>
                <a:spcPts val="100"/>
              </a:spcAft>
              <a:defRPr sz="1250" b="1">
                <a:solidFill>
                  <a:srgbClr val="191919"/>
                </a:solidFill>
                <a:latin typeface="Arial"/>
              </a:defRPr>
            </a:pPr>
            <a:r>
              <a:rPr lang="en-US" dirty="0"/>
              <a:t>9. What types of vehicles are used for concrete delivery?</a:t>
            </a:r>
          </a:p>
          <a:p>
            <a:pPr algn="just">
              <a:spcAft>
                <a:spcPts val="500"/>
              </a:spcAft>
              <a:defRPr sz="1050">
                <a:solidFill>
                  <a:srgbClr val="2D2D2D"/>
                </a:solidFill>
                <a:latin typeface="Arial"/>
              </a:defRPr>
            </a:pPr>
            <a:r>
              <a:rPr lang="en-US" dirty="0"/>
              <a:t>→ Transit Mixer Trucks – transport and keep concrete mixed; Concrete Pump Trucks – pump concrete to higher or difficult locations; Tipper / Dumper Trucks – mainly used for transporting raw materials like aggregates.</a:t>
            </a:r>
          </a:p>
          <a:p>
            <a:pPr algn="just">
              <a:spcAft>
                <a:spcPts val="100"/>
              </a:spcAft>
              <a:defRPr sz="1250" b="1">
                <a:solidFill>
                  <a:srgbClr val="191919"/>
                </a:solidFill>
                <a:latin typeface="Arial"/>
              </a:defRPr>
            </a:pPr>
            <a:r>
              <a:rPr lang="en-US" dirty="0"/>
              <a:t>10. What is the capacity of each vehicle?</a:t>
            </a:r>
          </a:p>
          <a:p>
            <a:pPr algn="just">
              <a:spcAft>
                <a:spcPts val="500"/>
              </a:spcAft>
              <a:defRPr sz="1050">
                <a:solidFill>
                  <a:srgbClr val="2D2D2D"/>
                </a:solidFill>
                <a:latin typeface="Arial"/>
              </a:defRPr>
            </a:pPr>
            <a:r>
              <a:rPr lang="en-US" dirty="0"/>
              <a:t>→ Transit Mixer: 6–10 m³ concrete; Concrete Pump: 30–100 m³/hour; Tipper / Dumper: 10–25 </a:t>
            </a:r>
            <a:r>
              <a:rPr lang="en-US" dirty="0" err="1"/>
              <a:t>tonnes</a:t>
            </a:r>
            <a:r>
              <a:rPr lang="en-US" dirty="0"/>
              <a:t> of raw materials.</a:t>
            </a:r>
          </a:p>
          <a:p>
            <a:pPr algn="just">
              <a:spcAft>
                <a:spcPts val="100"/>
              </a:spcAft>
              <a:defRPr sz="1250" b="1">
                <a:solidFill>
                  <a:srgbClr val="191919"/>
                </a:solidFill>
                <a:latin typeface="Arial"/>
              </a:defRPr>
            </a:pPr>
            <a:r>
              <a:rPr lang="en-US" dirty="0"/>
              <a:t>11. How do you track which vehicle has been sent to which customer?</a:t>
            </a:r>
          </a:p>
          <a:p>
            <a:pPr algn="just">
              <a:spcAft>
                <a:spcPts val="500"/>
              </a:spcAft>
              <a:defRPr sz="1050">
                <a:solidFill>
                  <a:srgbClr val="2D2D2D"/>
                </a:solidFill>
                <a:latin typeface="Arial"/>
              </a:defRPr>
            </a:pPr>
            <a:r>
              <a:rPr lang="en-US" dirty="0"/>
              <a:t>→ Order ID → Customer → Vehicle number → Driver → Dispatch time → Delivery status.</a:t>
            </a:r>
          </a:p>
          <a:p>
            <a:pPr algn="just">
              <a:spcAft>
                <a:spcPts val="100"/>
              </a:spcAft>
              <a:defRPr sz="1250" b="1">
                <a:solidFill>
                  <a:srgbClr val="191919"/>
                </a:solidFill>
                <a:latin typeface="Arial"/>
              </a:defRPr>
            </a:pPr>
            <a:r>
              <a:rPr lang="en-US" dirty="0"/>
              <a:t>12. How is the payment taken from the customer?</a:t>
            </a:r>
          </a:p>
          <a:p>
            <a:pPr algn="just">
              <a:spcAft>
                <a:spcPts val="500"/>
              </a:spcAft>
              <a:defRPr sz="1050">
                <a:solidFill>
                  <a:srgbClr val="2D2D2D"/>
                </a:solidFill>
                <a:latin typeface="Arial"/>
              </a:defRPr>
            </a:pPr>
            <a:r>
              <a:rPr lang="en-US" dirty="0"/>
              <a:t>→ Cash; UPI / online payment; Cheque.</a:t>
            </a:r>
          </a:p>
          <a:p>
            <a:pPr algn="just">
              <a:spcAft>
                <a:spcPts val="100"/>
              </a:spcAft>
              <a:defRPr sz="1250" b="1">
                <a:solidFill>
                  <a:srgbClr val="191919"/>
                </a:solidFill>
                <a:latin typeface="Arial"/>
              </a:defRPr>
            </a:pPr>
            <a:r>
              <a:rPr lang="en-US" dirty="0"/>
              <a:t>13. How is pending payment information maintained?</a:t>
            </a:r>
          </a:p>
          <a:p>
            <a:pPr algn="just">
              <a:spcAft>
                <a:spcPts val="500"/>
              </a:spcAft>
              <a:defRPr sz="1050">
                <a:solidFill>
                  <a:srgbClr val="2D2D2D"/>
                </a:solidFill>
                <a:latin typeface="Arial"/>
              </a:defRPr>
            </a:pPr>
            <a:r>
              <a:rPr lang="en-US" dirty="0"/>
              <a:t>→ Customer → Invoice / Order ID → Total Amount → Paid Amount → Pending Amount → Due Date → Payment Status.</a:t>
            </a:r>
          </a:p>
          <a:p>
            <a:pPr algn="just">
              <a:spcAft>
                <a:spcPts val="100"/>
              </a:spcAft>
              <a:defRPr sz="1250" b="1">
                <a:solidFill>
                  <a:srgbClr val="191919"/>
                </a:solidFill>
                <a:latin typeface="Arial"/>
              </a:defRPr>
            </a:pPr>
            <a:r>
              <a:rPr lang="en-US" dirty="0"/>
              <a:t>14. How is a bill / invoice given to the customer?</a:t>
            </a:r>
          </a:p>
          <a:p>
            <a:pPr algn="just">
              <a:spcAft>
                <a:spcPts val="500"/>
              </a:spcAft>
              <a:defRPr sz="1050">
                <a:solidFill>
                  <a:srgbClr val="2D2D2D"/>
                </a:solidFill>
                <a:latin typeface="Arial"/>
              </a:defRPr>
            </a:pPr>
            <a:r>
              <a:rPr lang="en-US" dirty="0"/>
              <a:t>→ Order details → Invoice generated → Printed → Given to customer.</a:t>
            </a:r>
          </a:p>
          <a:p>
            <a:pPr marL="0" indent="0">
              <a:buNone/>
            </a:pPr>
            <a:endParaRPr lang="en-IN" dirty="0"/>
          </a:p>
        </p:txBody>
      </p:sp>
    </p:spTree>
    <p:extLst>
      <p:ext uri="{BB962C8B-B14F-4D97-AF65-F5344CB8AC3E}">
        <p14:creationId xmlns:p14="http://schemas.microsoft.com/office/powerpoint/2010/main" val="385895613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F7364F6-8606-12F4-D521-986787D14FF6}"/>
              </a:ext>
            </a:extLst>
          </p:cNvPr>
          <p:cNvSpPr>
            <a:spLocks noGrp="1"/>
          </p:cNvSpPr>
          <p:nvPr>
            <p:ph type="title"/>
          </p:nvPr>
        </p:nvSpPr>
        <p:spPr/>
        <p:txBody>
          <a:bodyPr>
            <a:normAutofit/>
          </a:bodyPr>
          <a:lstStyle/>
          <a:p>
            <a:pPr algn="ctr"/>
            <a:r>
              <a:rPr lang="en-IN" sz="3600" b="1" dirty="0"/>
              <a:t>Drawback of Existing system </a:t>
            </a:r>
          </a:p>
        </p:txBody>
      </p:sp>
      <p:sp>
        <p:nvSpPr>
          <p:cNvPr id="3" name="Content Placeholder 2">
            <a:extLst>
              <a:ext uri="{FF2B5EF4-FFF2-40B4-BE49-F238E27FC236}">
                <a16:creationId xmlns:a16="http://schemas.microsoft.com/office/drawing/2014/main" id="{E1923E45-4CC6-7376-D3AA-8369A94CBE2F}"/>
              </a:ext>
            </a:extLst>
          </p:cNvPr>
          <p:cNvSpPr>
            <a:spLocks noGrp="1"/>
          </p:cNvSpPr>
          <p:nvPr>
            <p:ph idx="1"/>
          </p:nvPr>
        </p:nvSpPr>
        <p:spPr/>
        <p:txBody>
          <a:bodyPr>
            <a:normAutofit/>
          </a:bodyPr>
          <a:lstStyle/>
          <a:p>
            <a:pPr marL="457200" indent="-457200" algn="just">
              <a:buAutoNum type="arabicPeriod"/>
            </a:pPr>
            <a:r>
              <a:rPr lang="en-IN" sz="2400" dirty="0"/>
              <a:t>Manual record-keeping is time-consuming. </a:t>
            </a:r>
          </a:p>
          <a:p>
            <a:pPr marL="457200" indent="-457200" algn="just">
              <a:buAutoNum type="arabicPeriod"/>
            </a:pPr>
            <a:r>
              <a:rPr lang="en-IN" sz="2400" dirty="0"/>
              <a:t>High chances of human errors and duplicate entries. </a:t>
            </a:r>
          </a:p>
          <a:p>
            <a:pPr marL="457200" indent="-457200" algn="just">
              <a:buAutoNum type="arabicPeriod"/>
            </a:pPr>
            <a:r>
              <a:rPr lang="en-IN" sz="2400" dirty="0"/>
              <a:t>Difficulty in tracking customer orders and deliveries.</a:t>
            </a:r>
          </a:p>
          <a:p>
            <a:pPr marL="457200" indent="-457200" algn="just">
              <a:buAutoNum type="arabicPeriod"/>
            </a:pPr>
            <a:r>
              <a:rPr lang="en-IN" sz="2400" dirty="0"/>
              <a:t>Poor inventory management of raw materials.</a:t>
            </a:r>
          </a:p>
          <a:p>
            <a:pPr marL="457200" indent="-457200" algn="just">
              <a:buAutoNum type="arabicPeriod"/>
            </a:pPr>
            <a:r>
              <a:rPr lang="en-IN" sz="2400" dirty="0"/>
              <a:t>Billing and invoice generation take more time.</a:t>
            </a:r>
          </a:p>
          <a:p>
            <a:pPr marL="457200" indent="-457200" algn="just">
              <a:buAutoNum type="arabicPeriod"/>
            </a:pPr>
            <a:r>
              <a:rPr lang="en-IN" sz="2400" dirty="0"/>
              <a:t>Increased paperwork and storage requirements. </a:t>
            </a:r>
          </a:p>
          <a:p>
            <a:pPr marL="457200" indent="-457200" algn="just">
              <a:buAutoNum type="arabicPeriod"/>
            </a:pPr>
            <a:r>
              <a:rPr lang="en-IN" sz="2400" dirty="0"/>
              <a:t>Reports are difficult to generate and </a:t>
            </a:r>
            <a:r>
              <a:rPr lang="en-IN" sz="2400" dirty="0" err="1"/>
              <a:t>analyze</a:t>
            </a:r>
            <a:r>
              <a:rPr lang="en-IN" sz="2400" dirty="0"/>
              <a:t>.</a:t>
            </a:r>
          </a:p>
          <a:p>
            <a:pPr marL="457200" indent="-457200" algn="just">
              <a:buAutoNum type="arabicPeriod"/>
            </a:pPr>
            <a:r>
              <a:rPr lang="en-IN" sz="2400" dirty="0"/>
              <a:t>Poor coordination between departments, causing delays. </a:t>
            </a:r>
          </a:p>
        </p:txBody>
      </p:sp>
    </p:spTree>
    <p:extLst>
      <p:ext uri="{BB962C8B-B14F-4D97-AF65-F5344CB8AC3E}">
        <p14:creationId xmlns:p14="http://schemas.microsoft.com/office/powerpoint/2010/main" val="410444819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DDD45D2-5FF0-3260-1177-AC32E6320C47}"/>
              </a:ext>
            </a:extLst>
          </p:cNvPr>
          <p:cNvSpPr>
            <a:spLocks noGrp="1"/>
          </p:cNvSpPr>
          <p:nvPr>
            <p:ph type="title"/>
          </p:nvPr>
        </p:nvSpPr>
        <p:spPr>
          <a:xfrm>
            <a:off x="838200" y="147485"/>
            <a:ext cx="10515600" cy="953728"/>
          </a:xfrm>
        </p:spPr>
        <p:txBody>
          <a:bodyPr>
            <a:normAutofit/>
          </a:bodyPr>
          <a:lstStyle/>
          <a:p>
            <a:pPr algn="ctr"/>
            <a:r>
              <a:rPr lang="en-IN" sz="3600" b="1" dirty="0"/>
              <a:t>Feasibility Study</a:t>
            </a:r>
          </a:p>
        </p:txBody>
      </p:sp>
      <p:sp>
        <p:nvSpPr>
          <p:cNvPr id="18" name="TextBox 17">
            <a:extLst>
              <a:ext uri="{FF2B5EF4-FFF2-40B4-BE49-F238E27FC236}">
                <a16:creationId xmlns:a16="http://schemas.microsoft.com/office/drawing/2014/main" id="{A5C64BD0-7232-D4A1-33AA-175D0505D39C}"/>
              </a:ext>
            </a:extLst>
          </p:cNvPr>
          <p:cNvSpPr txBox="1"/>
          <p:nvPr/>
        </p:nvSpPr>
        <p:spPr>
          <a:xfrm>
            <a:off x="838200" y="1101213"/>
            <a:ext cx="5326626" cy="2031325"/>
          </a:xfrm>
          <a:prstGeom prst="rect">
            <a:avLst/>
          </a:prstGeom>
          <a:noFill/>
        </p:spPr>
        <p:txBody>
          <a:bodyPr wrap="square" rtlCol="0">
            <a:spAutoFit/>
          </a:bodyPr>
          <a:lstStyle/>
          <a:p>
            <a:pPr marL="342900" indent="-342900">
              <a:buAutoNum type="arabicPeriod"/>
            </a:pPr>
            <a:r>
              <a:rPr lang="en-IN" b="1" dirty="0"/>
              <a:t>Technical Feasibility</a:t>
            </a:r>
          </a:p>
          <a:p>
            <a:pPr algn="just"/>
            <a:r>
              <a:rPr lang="en-IN" dirty="0"/>
              <a:t>The system can be developed using commonly available technologies such as HTML, CSS, JavaScript, PHP/Python, and MySQL. The required computers, internet/network, and database facilities are generally available in an RMC plant. Therefore, the project is technically feasible.</a:t>
            </a:r>
          </a:p>
        </p:txBody>
      </p:sp>
      <p:sp>
        <p:nvSpPr>
          <p:cNvPr id="20" name="TextBox 19">
            <a:extLst>
              <a:ext uri="{FF2B5EF4-FFF2-40B4-BE49-F238E27FC236}">
                <a16:creationId xmlns:a16="http://schemas.microsoft.com/office/drawing/2014/main" id="{ACAEE068-414E-4350-163D-881167A9CFDA}"/>
              </a:ext>
            </a:extLst>
          </p:cNvPr>
          <p:cNvSpPr txBox="1"/>
          <p:nvPr/>
        </p:nvSpPr>
        <p:spPr>
          <a:xfrm>
            <a:off x="6243484" y="1101213"/>
            <a:ext cx="5110316" cy="2031325"/>
          </a:xfrm>
          <a:prstGeom prst="rect">
            <a:avLst/>
          </a:prstGeom>
          <a:noFill/>
        </p:spPr>
        <p:txBody>
          <a:bodyPr wrap="square" rtlCol="0">
            <a:spAutoFit/>
          </a:bodyPr>
          <a:lstStyle/>
          <a:p>
            <a:r>
              <a:rPr lang="en-IN" b="1" dirty="0"/>
              <a:t>2. Economic Feasibility </a:t>
            </a:r>
          </a:p>
          <a:p>
            <a:pPr algn="just"/>
            <a:r>
              <a:rPr lang="en-IN" dirty="0"/>
              <a:t>The proposed system reduces paperwork and manual work. It helps manage customers, orders, concrete production, vehicles, invoices and payments efficiently. Using open-source software can keep development and maintenance costs low. Therefore, the system is economically feasible. </a:t>
            </a:r>
          </a:p>
        </p:txBody>
      </p:sp>
      <p:sp>
        <p:nvSpPr>
          <p:cNvPr id="21" name="TextBox 20">
            <a:extLst>
              <a:ext uri="{FF2B5EF4-FFF2-40B4-BE49-F238E27FC236}">
                <a16:creationId xmlns:a16="http://schemas.microsoft.com/office/drawing/2014/main" id="{74E36F0D-6D96-126B-6146-CE8B39D6A24E}"/>
              </a:ext>
            </a:extLst>
          </p:cNvPr>
          <p:cNvSpPr txBox="1"/>
          <p:nvPr/>
        </p:nvSpPr>
        <p:spPr>
          <a:xfrm>
            <a:off x="838200" y="3070603"/>
            <a:ext cx="5171768" cy="2031325"/>
          </a:xfrm>
          <a:prstGeom prst="rect">
            <a:avLst/>
          </a:prstGeom>
          <a:noFill/>
        </p:spPr>
        <p:txBody>
          <a:bodyPr wrap="square" rtlCol="0">
            <a:spAutoFit/>
          </a:bodyPr>
          <a:lstStyle/>
          <a:p>
            <a:r>
              <a:rPr lang="en-IN" b="1" dirty="0"/>
              <a:t>3. Operational Feasibility</a:t>
            </a:r>
          </a:p>
          <a:p>
            <a:pPr algn="just"/>
            <a:r>
              <a:rPr lang="en-IN" dirty="0"/>
              <a:t>Employees can use the system to enter customer details, manage orders, track delivery vehicles, maintain payment records, and generate bills. It reduces errors and makes information easier to access. Therefore, the system is operationally feasible. </a:t>
            </a:r>
          </a:p>
        </p:txBody>
      </p:sp>
      <p:sp>
        <p:nvSpPr>
          <p:cNvPr id="25" name="TextBox 24">
            <a:extLst>
              <a:ext uri="{FF2B5EF4-FFF2-40B4-BE49-F238E27FC236}">
                <a16:creationId xmlns:a16="http://schemas.microsoft.com/office/drawing/2014/main" id="{581725FA-389F-F64A-9306-98523FB55D01}"/>
              </a:ext>
            </a:extLst>
          </p:cNvPr>
          <p:cNvSpPr txBox="1"/>
          <p:nvPr/>
        </p:nvSpPr>
        <p:spPr>
          <a:xfrm>
            <a:off x="6361471" y="3234813"/>
            <a:ext cx="4992329" cy="1477328"/>
          </a:xfrm>
          <a:prstGeom prst="rect">
            <a:avLst/>
          </a:prstGeom>
          <a:noFill/>
        </p:spPr>
        <p:txBody>
          <a:bodyPr wrap="square" rtlCol="0">
            <a:spAutoFit/>
          </a:bodyPr>
          <a:lstStyle/>
          <a:p>
            <a:r>
              <a:rPr lang="en-IN" dirty="0"/>
              <a:t>4. Schedule Feasibility</a:t>
            </a:r>
          </a:p>
          <a:p>
            <a:r>
              <a:rPr lang="en-IN" dirty="0"/>
              <a:t> The system can be developed in stages such as requirement analysis, database design, coding, testing and implementation within the project schedule. Therefore, it is schedule feasible. </a:t>
            </a:r>
          </a:p>
        </p:txBody>
      </p:sp>
      <p:sp>
        <p:nvSpPr>
          <p:cNvPr id="26" name="TextBox 25">
            <a:extLst>
              <a:ext uri="{FF2B5EF4-FFF2-40B4-BE49-F238E27FC236}">
                <a16:creationId xmlns:a16="http://schemas.microsoft.com/office/drawing/2014/main" id="{D4C5223D-76CD-0C36-970B-01946F61F220}"/>
              </a:ext>
            </a:extLst>
          </p:cNvPr>
          <p:cNvSpPr txBox="1"/>
          <p:nvPr/>
        </p:nvSpPr>
        <p:spPr>
          <a:xfrm>
            <a:off x="3544529" y="4956189"/>
            <a:ext cx="5397910" cy="1754326"/>
          </a:xfrm>
          <a:prstGeom prst="rect">
            <a:avLst/>
          </a:prstGeom>
          <a:noFill/>
        </p:spPr>
        <p:txBody>
          <a:bodyPr wrap="square" rtlCol="0">
            <a:spAutoFit/>
          </a:bodyPr>
          <a:lstStyle/>
          <a:p>
            <a:r>
              <a:rPr lang="en-IN" b="1" dirty="0"/>
              <a:t>5. Legal Feasibility</a:t>
            </a:r>
          </a:p>
          <a:p>
            <a:r>
              <a:rPr lang="en-IN" dirty="0"/>
              <a:t> The system should maintain customer and business information securely and follow applicable data-protection and business-record requirements. No major legal issue is expected for the proposed academic system. </a:t>
            </a:r>
          </a:p>
        </p:txBody>
      </p:sp>
    </p:spTree>
    <p:extLst>
      <p:ext uri="{BB962C8B-B14F-4D97-AF65-F5344CB8AC3E}">
        <p14:creationId xmlns:p14="http://schemas.microsoft.com/office/powerpoint/2010/main" val="322548679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627BDDB-B247-94C0-B559-280A8F9714B6}"/>
              </a:ext>
            </a:extLst>
          </p:cNvPr>
          <p:cNvSpPr>
            <a:spLocks noGrp="1"/>
          </p:cNvSpPr>
          <p:nvPr>
            <p:ph type="title"/>
          </p:nvPr>
        </p:nvSpPr>
        <p:spPr/>
        <p:txBody>
          <a:bodyPr>
            <a:normAutofit/>
          </a:bodyPr>
          <a:lstStyle/>
          <a:p>
            <a:pPr algn="ctr"/>
            <a:r>
              <a:rPr lang="en-IN" sz="3600" b="1" dirty="0"/>
              <a:t>Requirement Specification </a:t>
            </a:r>
            <a:br>
              <a:rPr lang="en-IN" sz="3600" b="1" dirty="0"/>
            </a:br>
            <a:r>
              <a:rPr lang="en-IN" sz="3600" b="1" dirty="0"/>
              <a:t>Data Requirements of the RMC Management System</a:t>
            </a:r>
          </a:p>
        </p:txBody>
      </p:sp>
      <p:sp>
        <p:nvSpPr>
          <p:cNvPr id="3" name="Content Placeholder 2">
            <a:extLst>
              <a:ext uri="{FF2B5EF4-FFF2-40B4-BE49-F238E27FC236}">
                <a16:creationId xmlns:a16="http://schemas.microsoft.com/office/drawing/2014/main" id="{E433533A-2F3C-0D73-82A1-44F466DF44D7}"/>
              </a:ext>
            </a:extLst>
          </p:cNvPr>
          <p:cNvSpPr>
            <a:spLocks noGrp="1"/>
          </p:cNvSpPr>
          <p:nvPr>
            <p:ph idx="1"/>
          </p:nvPr>
        </p:nvSpPr>
        <p:spPr/>
        <p:txBody>
          <a:bodyPr>
            <a:noAutofit/>
          </a:bodyPr>
          <a:lstStyle/>
          <a:p>
            <a:pPr marL="514350" indent="-514350" algn="just">
              <a:buAutoNum type="arabicPeriod"/>
            </a:pPr>
            <a:r>
              <a:rPr lang="en-IN" sz="2400" dirty="0"/>
              <a:t>Customer Data: Customer ID, name, contact number, address. </a:t>
            </a:r>
          </a:p>
          <a:p>
            <a:pPr marL="514350" indent="-514350" algn="just">
              <a:buAutoNum type="arabicPeriod"/>
            </a:pPr>
            <a:r>
              <a:rPr lang="en-IN" sz="2400" dirty="0"/>
              <a:t>Phone Call Order Data: Order ID, concrete type, quantity, order date, delivery date. </a:t>
            </a:r>
          </a:p>
          <a:p>
            <a:pPr marL="514350" indent="-514350" algn="just">
              <a:buAutoNum type="arabicPeriod"/>
            </a:pPr>
            <a:r>
              <a:rPr lang="en-IN" sz="2400" dirty="0"/>
              <a:t>Inventory Data: Cement, sand, aggregates, water, stock quantity. </a:t>
            </a:r>
          </a:p>
          <a:p>
            <a:pPr marL="514350" indent="-514350" algn="just">
              <a:buAutoNum type="arabicPeriod"/>
            </a:pPr>
            <a:r>
              <a:rPr lang="en-IN" sz="2400" dirty="0"/>
              <a:t>Vehicle Data: Truck ID, vehicle number, delivery details, availability. </a:t>
            </a:r>
          </a:p>
          <a:p>
            <a:pPr marL="514350" indent="-514350" algn="just">
              <a:buAutoNum type="arabicPeriod"/>
            </a:pPr>
            <a:r>
              <a:rPr lang="en-IN" sz="2400" dirty="0"/>
              <a:t>Delivery Data: Delivery status, location, date and time. </a:t>
            </a:r>
          </a:p>
          <a:p>
            <a:pPr marL="514350" indent="-514350" algn="just">
              <a:buAutoNum type="arabicPeriod"/>
            </a:pPr>
            <a:r>
              <a:rPr lang="en-IN" sz="2400" dirty="0"/>
              <a:t>Billing Data: Invoice number, payment amount, payment status. </a:t>
            </a:r>
          </a:p>
          <a:p>
            <a:pPr marL="514350" indent="-514350" algn="just">
              <a:buAutoNum type="arabicPeriod"/>
            </a:pPr>
            <a:r>
              <a:rPr lang="en-IN" sz="2400" dirty="0"/>
              <a:t>Admin Data: Username, password, and admin role. </a:t>
            </a:r>
          </a:p>
          <a:p>
            <a:pPr marL="514350" indent="-514350" algn="just">
              <a:buAutoNum type="arabicPeriod"/>
            </a:pPr>
            <a:r>
              <a:rPr lang="en-IN" sz="2400" dirty="0"/>
              <a:t>Staff Data: Username, password, and staff role. </a:t>
            </a:r>
          </a:p>
          <a:p>
            <a:pPr marL="514350" indent="-514350" algn="just">
              <a:buAutoNum type="arabicPeriod"/>
            </a:pPr>
            <a:r>
              <a:rPr lang="en-IN" sz="2400" dirty="0"/>
              <a:t>Supplier Data: Supplier details. 10. Material Data: Material details.</a:t>
            </a:r>
          </a:p>
        </p:txBody>
      </p:sp>
    </p:spTree>
    <p:extLst>
      <p:ext uri="{BB962C8B-B14F-4D97-AF65-F5344CB8AC3E}">
        <p14:creationId xmlns:p14="http://schemas.microsoft.com/office/powerpoint/2010/main" val="280499128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84AC896-AD4D-6F79-CC9D-7CE2E1E6FD18}"/>
              </a:ext>
            </a:extLst>
          </p:cNvPr>
          <p:cNvSpPr>
            <a:spLocks noGrp="1"/>
          </p:cNvSpPr>
          <p:nvPr>
            <p:ph type="title"/>
          </p:nvPr>
        </p:nvSpPr>
        <p:spPr/>
        <p:txBody>
          <a:bodyPr>
            <a:normAutofit/>
          </a:bodyPr>
          <a:lstStyle/>
          <a:p>
            <a:pPr algn="ctr"/>
            <a:r>
              <a:rPr lang="en-IN" sz="3600" b="1" dirty="0"/>
              <a:t>End Users of the RMC Management System </a:t>
            </a:r>
          </a:p>
        </p:txBody>
      </p:sp>
      <p:sp>
        <p:nvSpPr>
          <p:cNvPr id="3" name="Content Placeholder 2">
            <a:extLst>
              <a:ext uri="{FF2B5EF4-FFF2-40B4-BE49-F238E27FC236}">
                <a16:creationId xmlns:a16="http://schemas.microsoft.com/office/drawing/2014/main" id="{5184B9E7-4F66-1A9B-6652-0AF2215A00F5}"/>
              </a:ext>
            </a:extLst>
          </p:cNvPr>
          <p:cNvSpPr>
            <a:spLocks noGrp="1"/>
          </p:cNvSpPr>
          <p:nvPr>
            <p:ph idx="1"/>
          </p:nvPr>
        </p:nvSpPr>
        <p:spPr/>
        <p:txBody>
          <a:bodyPr>
            <a:normAutofit/>
          </a:bodyPr>
          <a:lstStyle/>
          <a:p>
            <a:pPr marL="514350" indent="-514350" algn="just">
              <a:buAutoNum type="arabicPeriod"/>
            </a:pPr>
            <a:r>
              <a:rPr lang="en-IN" sz="2400" dirty="0"/>
              <a:t>Administrator: Manages the entire system, users, and reports. </a:t>
            </a:r>
          </a:p>
          <a:p>
            <a:pPr marL="514350" indent="-514350" algn="just">
              <a:buAutoNum type="arabicPeriod"/>
            </a:pPr>
            <a:r>
              <a:rPr lang="en-IN" sz="2400" dirty="0"/>
              <a:t>Sales Executive: Creates and manages customer orders. </a:t>
            </a:r>
          </a:p>
          <a:p>
            <a:pPr marL="514350" indent="-514350" algn="just">
              <a:buAutoNum type="arabicPeriod"/>
            </a:pPr>
            <a:r>
              <a:rPr lang="en-IN" sz="2400" dirty="0"/>
              <a:t>Production Manager: Monitors concrete production and raw materials. </a:t>
            </a:r>
          </a:p>
          <a:p>
            <a:pPr marL="514350" indent="-514350" algn="just">
              <a:buAutoNum type="arabicPeriod"/>
            </a:pPr>
            <a:r>
              <a:rPr lang="en-IN" sz="2400" dirty="0"/>
              <a:t>Inventory Manager: Maintains stock of cement, sand, aggregates, and other materials. </a:t>
            </a:r>
          </a:p>
          <a:p>
            <a:pPr marL="514350" indent="-514350" algn="just">
              <a:buAutoNum type="arabicPeriod"/>
            </a:pPr>
            <a:r>
              <a:rPr lang="en-IN" sz="2400" dirty="0"/>
              <a:t>Delivery Manager / Dispatcher: Schedules and tracks vehicle deliveries. </a:t>
            </a:r>
          </a:p>
          <a:p>
            <a:pPr marL="514350" indent="-514350" algn="just">
              <a:buAutoNum type="arabicPeriod"/>
            </a:pPr>
            <a:r>
              <a:rPr lang="en-IN" sz="2400" dirty="0"/>
              <a:t>Accounts Staff: Generates invoices and records payments.</a:t>
            </a:r>
          </a:p>
        </p:txBody>
      </p:sp>
    </p:spTree>
    <p:extLst>
      <p:ext uri="{BB962C8B-B14F-4D97-AF65-F5344CB8AC3E}">
        <p14:creationId xmlns:p14="http://schemas.microsoft.com/office/powerpoint/2010/main" val="92386284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7D350AE-1FD2-C84C-EA5E-EE0A97B48CEA}"/>
              </a:ext>
            </a:extLst>
          </p:cNvPr>
          <p:cNvSpPr>
            <a:spLocks noGrp="1"/>
          </p:cNvSpPr>
          <p:nvPr>
            <p:ph type="title"/>
          </p:nvPr>
        </p:nvSpPr>
        <p:spPr/>
        <p:txBody>
          <a:bodyPr>
            <a:normAutofit fontScale="90000"/>
          </a:bodyPr>
          <a:lstStyle/>
          <a:p>
            <a:pPr algn="ctr"/>
            <a:r>
              <a:rPr lang="en-IN" sz="3600" b="1" dirty="0"/>
              <a:t>Functional and Non-Functional Requirements of RMC Management System</a:t>
            </a:r>
            <a:br>
              <a:rPr lang="en-IN" sz="3600" b="1" dirty="0"/>
            </a:br>
            <a:r>
              <a:rPr lang="en-IN" sz="4000" b="1" dirty="0"/>
              <a:t>Functional Requirements</a:t>
            </a:r>
          </a:p>
        </p:txBody>
      </p:sp>
      <p:sp>
        <p:nvSpPr>
          <p:cNvPr id="3" name="Content Placeholder 2">
            <a:extLst>
              <a:ext uri="{FF2B5EF4-FFF2-40B4-BE49-F238E27FC236}">
                <a16:creationId xmlns:a16="http://schemas.microsoft.com/office/drawing/2014/main" id="{5CBFB434-A18A-21F1-4D96-E6273C648818}"/>
              </a:ext>
            </a:extLst>
          </p:cNvPr>
          <p:cNvSpPr>
            <a:spLocks noGrp="1"/>
          </p:cNvSpPr>
          <p:nvPr>
            <p:ph idx="1"/>
          </p:nvPr>
        </p:nvSpPr>
        <p:spPr/>
        <p:txBody>
          <a:bodyPr>
            <a:normAutofit fontScale="85000" lnSpcReduction="20000"/>
          </a:bodyPr>
          <a:lstStyle/>
          <a:p>
            <a:pPr marL="514350" indent="-514350" algn="just">
              <a:buAutoNum type="arabicPeriod"/>
            </a:pPr>
            <a:r>
              <a:rPr lang="en-IN" dirty="0"/>
              <a:t>User login and authentication </a:t>
            </a:r>
          </a:p>
          <a:p>
            <a:pPr marL="514350" indent="-514350" algn="just">
              <a:buAutoNum type="arabicPeriod"/>
            </a:pPr>
            <a:r>
              <a:rPr lang="en-IN" dirty="0"/>
              <a:t>Customer registration and management </a:t>
            </a:r>
          </a:p>
          <a:p>
            <a:pPr marL="514350" indent="-514350" algn="just">
              <a:buAutoNum type="arabicPeriod"/>
            </a:pPr>
            <a:r>
              <a:rPr lang="en-IN" dirty="0"/>
              <a:t>Order booking and order tracking </a:t>
            </a:r>
          </a:p>
          <a:p>
            <a:pPr marL="514350" indent="-514350" algn="just">
              <a:buAutoNum type="arabicPeriod"/>
            </a:pPr>
            <a:r>
              <a:rPr lang="en-IN" dirty="0"/>
              <a:t>Concrete mix design management </a:t>
            </a:r>
          </a:p>
          <a:p>
            <a:pPr marL="514350" indent="-514350" algn="just">
              <a:buAutoNum type="arabicPeriod"/>
            </a:pPr>
            <a:r>
              <a:rPr lang="en-IN" dirty="0"/>
              <a:t>Vehicle and driver management </a:t>
            </a:r>
          </a:p>
          <a:p>
            <a:pPr marL="514350" indent="-514350" algn="just">
              <a:buAutoNum type="arabicPeriod"/>
            </a:pPr>
            <a:r>
              <a:rPr lang="en-IN" dirty="0"/>
              <a:t>Delivery scheduling and dispatch </a:t>
            </a:r>
          </a:p>
          <a:p>
            <a:pPr marL="514350" indent="-514350" algn="just">
              <a:buAutoNum type="arabicPeriod"/>
            </a:pPr>
            <a:r>
              <a:rPr lang="en-IN" dirty="0"/>
              <a:t>Inventory management (cement, sand, aggregates, water, etc.) </a:t>
            </a:r>
          </a:p>
          <a:p>
            <a:pPr marL="514350" indent="-514350" algn="just">
              <a:buAutoNum type="arabicPeriod"/>
            </a:pPr>
            <a:r>
              <a:rPr lang="en-IN" dirty="0"/>
              <a:t>Billing and invoice generation </a:t>
            </a:r>
          </a:p>
          <a:p>
            <a:pPr marL="514350" indent="-514350" algn="just">
              <a:buAutoNum type="arabicPeriod"/>
            </a:pPr>
            <a:r>
              <a:rPr lang="en-IN" dirty="0"/>
              <a:t>Payment recording and tracking </a:t>
            </a:r>
          </a:p>
          <a:p>
            <a:pPr marL="514350" indent="-514350" algn="just">
              <a:buAutoNum type="arabicPeriod"/>
            </a:pPr>
            <a:r>
              <a:rPr lang="en-IN" dirty="0"/>
              <a:t>Reports for sales, deliveries, inventory, and payments. </a:t>
            </a:r>
          </a:p>
          <a:p>
            <a:pPr marL="514350" indent="-514350" algn="just">
              <a:buAutoNum type="arabicPeriod"/>
            </a:pPr>
            <a:r>
              <a:rPr lang="en-IN" dirty="0"/>
              <a:t>Admin can manage users and system settings.</a:t>
            </a:r>
          </a:p>
        </p:txBody>
      </p:sp>
    </p:spTree>
    <p:extLst>
      <p:ext uri="{BB962C8B-B14F-4D97-AF65-F5344CB8AC3E}">
        <p14:creationId xmlns:p14="http://schemas.microsoft.com/office/powerpoint/2010/main" val="242124188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6CCADFB-7428-5505-FAC2-A82FBE78727A}"/>
              </a:ext>
            </a:extLst>
          </p:cNvPr>
          <p:cNvSpPr>
            <a:spLocks noGrp="1"/>
          </p:cNvSpPr>
          <p:nvPr>
            <p:ph type="title"/>
          </p:nvPr>
        </p:nvSpPr>
        <p:spPr/>
        <p:txBody>
          <a:bodyPr>
            <a:normAutofit/>
          </a:bodyPr>
          <a:lstStyle/>
          <a:p>
            <a:pPr algn="ctr"/>
            <a:r>
              <a:rPr lang="en-IN" sz="3600" b="1" dirty="0"/>
              <a:t>Non-Functional Requirements</a:t>
            </a:r>
          </a:p>
        </p:txBody>
      </p:sp>
      <p:sp>
        <p:nvSpPr>
          <p:cNvPr id="3" name="Content Placeholder 2">
            <a:extLst>
              <a:ext uri="{FF2B5EF4-FFF2-40B4-BE49-F238E27FC236}">
                <a16:creationId xmlns:a16="http://schemas.microsoft.com/office/drawing/2014/main" id="{F0A37E03-59CE-0C36-0B24-D62F5A5906DA}"/>
              </a:ext>
            </a:extLst>
          </p:cNvPr>
          <p:cNvSpPr>
            <a:spLocks noGrp="1"/>
          </p:cNvSpPr>
          <p:nvPr>
            <p:ph idx="1"/>
          </p:nvPr>
        </p:nvSpPr>
        <p:spPr/>
        <p:txBody>
          <a:bodyPr>
            <a:normAutofit fontScale="85000" lnSpcReduction="20000"/>
          </a:bodyPr>
          <a:lstStyle/>
          <a:p>
            <a:pPr marL="514350" indent="-514350">
              <a:buAutoNum type="arabicPeriod"/>
            </a:pPr>
            <a:r>
              <a:rPr lang="en-IN" dirty="0"/>
              <a:t>Performance: The system should respond quickly and support multiple users. </a:t>
            </a:r>
          </a:p>
          <a:p>
            <a:pPr marL="514350" indent="-514350">
              <a:buAutoNum type="arabicPeriod"/>
            </a:pPr>
            <a:r>
              <a:rPr lang="en-IN" dirty="0"/>
              <a:t>Security: User authentication and secure data storage. </a:t>
            </a:r>
          </a:p>
          <a:p>
            <a:pPr marL="514350" indent="-514350">
              <a:buAutoNum type="arabicPeriod"/>
            </a:pPr>
            <a:r>
              <a:rPr lang="en-IN" dirty="0"/>
              <a:t>Reliability: The system should work continuously with minimal downtime. </a:t>
            </a:r>
          </a:p>
          <a:p>
            <a:pPr marL="514350" indent="-514350">
              <a:buAutoNum type="arabicPeriod"/>
            </a:pPr>
            <a:r>
              <a:rPr lang="en-IN" dirty="0"/>
              <a:t>Usability: Simple and user-friendly interface. </a:t>
            </a:r>
          </a:p>
          <a:p>
            <a:pPr marL="514350" indent="-514350">
              <a:buAutoNum type="arabicPeriod"/>
            </a:pPr>
            <a:r>
              <a:rPr lang="en-IN" dirty="0"/>
              <a:t>Scalability: System should be easily expandable to add more users, </a:t>
            </a:r>
            <a:r>
              <a:rPr lang="en-IN" dirty="0" err="1"/>
              <a:t>vehicles,and</a:t>
            </a:r>
            <a:r>
              <a:rPr lang="en-IN" dirty="0"/>
              <a:t> customers. </a:t>
            </a:r>
          </a:p>
          <a:p>
            <a:pPr marL="514350" indent="-514350">
              <a:buAutoNum type="arabicPeriod"/>
            </a:pPr>
            <a:r>
              <a:rPr lang="en-IN" dirty="0"/>
              <a:t>Availability: System should be available whenever required. </a:t>
            </a:r>
          </a:p>
          <a:p>
            <a:pPr marL="514350" indent="-514350">
              <a:buAutoNum type="arabicPeriod"/>
            </a:pPr>
            <a:r>
              <a:rPr lang="en-IN" dirty="0"/>
              <a:t>Maintainability: Easy to update and fix. </a:t>
            </a:r>
          </a:p>
          <a:p>
            <a:pPr marL="514350" indent="-514350">
              <a:buAutoNum type="arabicPeriod"/>
            </a:pPr>
            <a:r>
              <a:rPr lang="en-IN" dirty="0"/>
              <a:t>Data Backup: Regular backup to prevent data loss. </a:t>
            </a:r>
          </a:p>
          <a:p>
            <a:pPr marL="514350" indent="-514350">
              <a:buAutoNum type="arabicPeriod"/>
            </a:pPr>
            <a:r>
              <a:rPr lang="en-IN" dirty="0"/>
              <a:t>Compatibility: Should work on modern web browsers and devices. </a:t>
            </a:r>
          </a:p>
          <a:p>
            <a:pPr marL="514350" indent="-514350">
              <a:buAutoNum type="arabicPeriod"/>
            </a:pPr>
            <a:r>
              <a:rPr lang="en-IN" dirty="0"/>
              <a:t>Accuracy: Orders, inventory, and billing calculations should be correct.</a:t>
            </a:r>
          </a:p>
        </p:txBody>
      </p:sp>
    </p:spTree>
    <p:extLst>
      <p:ext uri="{BB962C8B-B14F-4D97-AF65-F5344CB8AC3E}">
        <p14:creationId xmlns:p14="http://schemas.microsoft.com/office/powerpoint/2010/main" val="381901059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475327A-D833-9F0C-FBDA-D4432FF1EF3C}"/>
              </a:ext>
            </a:extLst>
          </p:cNvPr>
          <p:cNvSpPr>
            <a:spLocks noGrp="1"/>
          </p:cNvSpPr>
          <p:nvPr>
            <p:ph type="title"/>
          </p:nvPr>
        </p:nvSpPr>
        <p:spPr/>
        <p:txBody>
          <a:bodyPr>
            <a:normAutofit/>
          </a:bodyPr>
          <a:lstStyle/>
          <a:p>
            <a:pPr algn="ctr"/>
            <a:r>
              <a:rPr lang="en-IN" sz="3600" b="1" dirty="0"/>
              <a:t>Database Design – Entities, Relationships and Attributes </a:t>
            </a:r>
          </a:p>
        </p:txBody>
      </p:sp>
      <p:graphicFrame>
        <p:nvGraphicFramePr>
          <p:cNvPr id="5" name="Content Placeholder 4">
            <a:extLst>
              <a:ext uri="{FF2B5EF4-FFF2-40B4-BE49-F238E27FC236}">
                <a16:creationId xmlns:a16="http://schemas.microsoft.com/office/drawing/2014/main" id="{CBE28F8B-663F-0AAF-AFD9-54B159658D59}"/>
              </a:ext>
            </a:extLst>
          </p:cNvPr>
          <p:cNvGraphicFramePr>
            <a:graphicFrameLocks noGrp="1"/>
          </p:cNvGraphicFramePr>
          <p:nvPr>
            <p:ph idx="1"/>
            <p:extLst>
              <p:ext uri="{D42A27DB-BD31-4B8C-83A1-F6EECF244321}">
                <p14:modId xmlns:p14="http://schemas.microsoft.com/office/powerpoint/2010/main" val="317333239"/>
              </p:ext>
            </p:extLst>
          </p:nvPr>
        </p:nvGraphicFramePr>
        <p:xfrm>
          <a:off x="838200" y="1825625"/>
          <a:ext cx="10515600" cy="4820920"/>
        </p:xfrm>
        <a:graphic>
          <a:graphicData uri="http://schemas.openxmlformats.org/drawingml/2006/table">
            <a:tbl>
              <a:tblPr firstRow="1" bandRow="1">
                <a:tableStyleId>{073A0DAA-6AF3-43AB-8588-CEC1D06C72B9}</a:tableStyleId>
              </a:tblPr>
              <a:tblGrid>
                <a:gridCol w="2111477">
                  <a:extLst>
                    <a:ext uri="{9D8B030D-6E8A-4147-A177-3AD203B41FA5}">
                      <a16:colId xmlns:a16="http://schemas.microsoft.com/office/drawing/2014/main" val="361315760"/>
                    </a:ext>
                  </a:extLst>
                </a:gridCol>
                <a:gridCol w="8404123">
                  <a:extLst>
                    <a:ext uri="{9D8B030D-6E8A-4147-A177-3AD203B41FA5}">
                      <a16:colId xmlns:a16="http://schemas.microsoft.com/office/drawing/2014/main" val="3675452069"/>
                    </a:ext>
                  </a:extLst>
                </a:gridCol>
              </a:tblGrid>
              <a:tr h="370840">
                <a:tc>
                  <a:txBody>
                    <a:bodyPr/>
                    <a:lstStyle/>
                    <a:p>
                      <a:r>
                        <a:rPr lang="en-IN" dirty="0"/>
                        <a:t>Entity </a:t>
                      </a:r>
                    </a:p>
                  </a:txBody>
                  <a:tcPr/>
                </a:tc>
                <a:tc>
                  <a:txBody>
                    <a:bodyPr/>
                    <a:lstStyle/>
                    <a:p>
                      <a:r>
                        <a:rPr lang="en-IN" dirty="0"/>
                        <a:t>Attributes </a:t>
                      </a:r>
                    </a:p>
                  </a:txBody>
                  <a:tcPr/>
                </a:tc>
                <a:extLst>
                  <a:ext uri="{0D108BD9-81ED-4DB2-BD59-A6C34878D82A}">
                    <a16:rowId xmlns:a16="http://schemas.microsoft.com/office/drawing/2014/main" val="3617146924"/>
                  </a:ext>
                </a:extLst>
              </a:tr>
              <a:tr h="370840">
                <a:tc>
                  <a:txBody>
                    <a:bodyPr/>
                    <a:lstStyle/>
                    <a:p>
                      <a:r>
                        <a:rPr lang="en-IN" dirty="0"/>
                        <a:t>Supplier</a:t>
                      </a:r>
                    </a:p>
                  </a:txBody>
                  <a:tcPr/>
                </a:tc>
                <a:tc>
                  <a:txBody>
                    <a:bodyPr/>
                    <a:lstStyle/>
                    <a:p>
                      <a:r>
                        <a:rPr lang="en-IN" dirty="0"/>
                        <a:t>supplier-id, name, phone, email, address</a:t>
                      </a:r>
                    </a:p>
                  </a:txBody>
                  <a:tcPr/>
                </a:tc>
                <a:extLst>
                  <a:ext uri="{0D108BD9-81ED-4DB2-BD59-A6C34878D82A}">
                    <a16:rowId xmlns:a16="http://schemas.microsoft.com/office/drawing/2014/main" val="1567824043"/>
                  </a:ext>
                </a:extLst>
              </a:tr>
              <a:tr h="370840">
                <a:tc>
                  <a:txBody>
                    <a:bodyPr/>
                    <a:lstStyle/>
                    <a:p>
                      <a:r>
                        <a:rPr lang="en-IN" dirty="0"/>
                        <a:t>Material</a:t>
                      </a:r>
                    </a:p>
                  </a:txBody>
                  <a:tcPr/>
                </a:tc>
                <a:tc>
                  <a:txBody>
                    <a:bodyPr/>
                    <a:lstStyle/>
                    <a:p>
                      <a:r>
                        <a:rPr lang="en-IN" dirty="0"/>
                        <a:t>material-id, name, type, unit, price-per-unit, supplier-id</a:t>
                      </a:r>
                    </a:p>
                  </a:txBody>
                  <a:tcPr/>
                </a:tc>
                <a:extLst>
                  <a:ext uri="{0D108BD9-81ED-4DB2-BD59-A6C34878D82A}">
                    <a16:rowId xmlns:a16="http://schemas.microsoft.com/office/drawing/2014/main" val="1985448121"/>
                  </a:ext>
                </a:extLst>
              </a:tr>
              <a:tr h="370840">
                <a:tc>
                  <a:txBody>
                    <a:bodyPr/>
                    <a:lstStyle/>
                    <a:p>
                      <a:r>
                        <a:rPr lang="en-IN" dirty="0"/>
                        <a:t>Concrete Mix</a:t>
                      </a:r>
                    </a:p>
                  </a:txBody>
                  <a:tcPr/>
                </a:tc>
                <a:tc>
                  <a:txBody>
                    <a:bodyPr/>
                    <a:lstStyle/>
                    <a:p>
                      <a:r>
                        <a:rPr lang="en-IN" dirty="0"/>
                        <a:t>mix-id, name, grade, description </a:t>
                      </a:r>
                    </a:p>
                  </a:txBody>
                  <a:tcPr/>
                </a:tc>
                <a:extLst>
                  <a:ext uri="{0D108BD9-81ED-4DB2-BD59-A6C34878D82A}">
                    <a16:rowId xmlns:a16="http://schemas.microsoft.com/office/drawing/2014/main" val="2616265752"/>
                  </a:ext>
                </a:extLst>
              </a:tr>
              <a:tr h="370840">
                <a:tc>
                  <a:txBody>
                    <a:bodyPr/>
                    <a:lstStyle/>
                    <a:p>
                      <a:r>
                        <a:rPr lang="en-IN" dirty="0"/>
                        <a:t>Customer </a:t>
                      </a:r>
                    </a:p>
                  </a:txBody>
                  <a:tcPr/>
                </a:tc>
                <a:tc>
                  <a:txBody>
                    <a:bodyPr/>
                    <a:lstStyle/>
                    <a:p>
                      <a:r>
                        <a:rPr lang="en-IN" dirty="0"/>
                        <a:t>customer-id, name, phone, email, address, company-name </a:t>
                      </a:r>
                    </a:p>
                  </a:txBody>
                  <a:tcPr/>
                </a:tc>
                <a:extLst>
                  <a:ext uri="{0D108BD9-81ED-4DB2-BD59-A6C34878D82A}">
                    <a16:rowId xmlns:a16="http://schemas.microsoft.com/office/drawing/2014/main" val="3662438259"/>
                  </a:ext>
                </a:extLst>
              </a:tr>
              <a:tr h="370840">
                <a:tc>
                  <a:txBody>
                    <a:bodyPr/>
                    <a:lstStyle/>
                    <a:p>
                      <a:r>
                        <a:rPr lang="en-IN" dirty="0"/>
                        <a:t>Order</a:t>
                      </a:r>
                    </a:p>
                  </a:txBody>
                  <a:tcPr/>
                </a:tc>
                <a:tc>
                  <a:txBody>
                    <a:bodyPr/>
                    <a:lstStyle/>
                    <a:p>
                      <a:r>
                        <a:rPr lang="en-IN" dirty="0"/>
                        <a:t>order-id, customer-id, mix-id, admin-id, quantity, total-amount, cancelled-date</a:t>
                      </a:r>
                    </a:p>
                  </a:txBody>
                  <a:tcPr/>
                </a:tc>
                <a:extLst>
                  <a:ext uri="{0D108BD9-81ED-4DB2-BD59-A6C34878D82A}">
                    <a16:rowId xmlns:a16="http://schemas.microsoft.com/office/drawing/2014/main" val="1812967531"/>
                  </a:ext>
                </a:extLst>
              </a:tr>
              <a:tr h="370840">
                <a:tc>
                  <a:txBody>
                    <a:bodyPr/>
                    <a:lstStyle/>
                    <a:p>
                      <a:r>
                        <a:rPr lang="en-IN" dirty="0"/>
                        <a:t>Payment </a:t>
                      </a:r>
                    </a:p>
                  </a:txBody>
                  <a:tcPr/>
                </a:tc>
                <a:tc>
                  <a:txBody>
                    <a:bodyPr/>
                    <a:lstStyle/>
                    <a:p>
                      <a:r>
                        <a:rPr lang="en-IN" dirty="0"/>
                        <a:t>payment-id, order-id, amount, payment-date, payment-method, status</a:t>
                      </a:r>
                    </a:p>
                  </a:txBody>
                  <a:tcPr/>
                </a:tc>
                <a:extLst>
                  <a:ext uri="{0D108BD9-81ED-4DB2-BD59-A6C34878D82A}">
                    <a16:rowId xmlns:a16="http://schemas.microsoft.com/office/drawing/2014/main" val="4256385776"/>
                  </a:ext>
                </a:extLst>
              </a:tr>
              <a:tr h="370840">
                <a:tc>
                  <a:txBody>
                    <a:bodyPr/>
                    <a:lstStyle/>
                    <a:p>
                      <a:r>
                        <a:rPr lang="en-IN" dirty="0"/>
                        <a:t>Delivery</a:t>
                      </a:r>
                    </a:p>
                  </a:txBody>
                  <a:tcPr/>
                </a:tc>
                <a:tc>
                  <a:txBody>
                    <a:bodyPr/>
                    <a:lstStyle/>
                    <a:p>
                      <a:r>
                        <a:rPr lang="en-IN" dirty="0"/>
                        <a:t>delivery-id, order-id, vehicle-id, staff-id, dispatch id, delivery-date, status</a:t>
                      </a:r>
                    </a:p>
                  </a:txBody>
                  <a:tcPr/>
                </a:tc>
                <a:extLst>
                  <a:ext uri="{0D108BD9-81ED-4DB2-BD59-A6C34878D82A}">
                    <a16:rowId xmlns:a16="http://schemas.microsoft.com/office/drawing/2014/main" val="1985941072"/>
                  </a:ext>
                </a:extLst>
              </a:tr>
              <a:tr h="370840">
                <a:tc>
                  <a:txBody>
                    <a:bodyPr/>
                    <a:lstStyle/>
                    <a:p>
                      <a:r>
                        <a:rPr lang="en-IN" dirty="0"/>
                        <a:t>Delivery Vehicle</a:t>
                      </a:r>
                    </a:p>
                  </a:txBody>
                  <a:tcPr/>
                </a:tc>
                <a:tc>
                  <a:txBody>
                    <a:bodyPr/>
                    <a:lstStyle/>
                    <a:p>
                      <a:r>
                        <a:rPr lang="en-IN" dirty="0"/>
                        <a:t>vehicle-no, capacity, type</a:t>
                      </a:r>
                    </a:p>
                  </a:txBody>
                  <a:tcPr/>
                </a:tc>
                <a:extLst>
                  <a:ext uri="{0D108BD9-81ED-4DB2-BD59-A6C34878D82A}">
                    <a16:rowId xmlns:a16="http://schemas.microsoft.com/office/drawing/2014/main" val="28104453"/>
                  </a:ext>
                </a:extLst>
              </a:tr>
              <a:tr h="370840">
                <a:tc>
                  <a:txBody>
                    <a:bodyPr/>
                    <a:lstStyle/>
                    <a:p>
                      <a:r>
                        <a:rPr lang="en-IN" dirty="0"/>
                        <a:t>Staff</a:t>
                      </a:r>
                    </a:p>
                  </a:txBody>
                  <a:tcPr/>
                </a:tc>
                <a:tc>
                  <a:txBody>
                    <a:bodyPr/>
                    <a:lstStyle/>
                    <a:p>
                      <a:r>
                        <a:rPr lang="en-IN" dirty="0"/>
                        <a:t>staff-id, name, role, phone, email, joining-date </a:t>
                      </a:r>
                    </a:p>
                  </a:txBody>
                  <a:tcPr/>
                </a:tc>
                <a:extLst>
                  <a:ext uri="{0D108BD9-81ED-4DB2-BD59-A6C34878D82A}">
                    <a16:rowId xmlns:a16="http://schemas.microsoft.com/office/drawing/2014/main" val="882540522"/>
                  </a:ext>
                </a:extLst>
              </a:tr>
              <a:tr h="370840">
                <a:tc>
                  <a:txBody>
                    <a:bodyPr/>
                    <a:lstStyle/>
                    <a:p>
                      <a:r>
                        <a:rPr lang="en-IN" dirty="0"/>
                        <a:t>Admin</a:t>
                      </a:r>
                    </a:p>
                  </a:txBody>
                  <a:tcPr/>
                </a:tc>
                <a:tc>
                  <a:txBody>
                    <a:bodyPr/>
                    <a:lstStyle/>
                    <a:p>
                      <a:r>
                        <a:rPr lang="en-IN" dirty="0"/>
                        <a:t>admin-id, name, email, phone, username, password </a:t>
                      </a:r>
                    </a:p>
                  </a:txBody>
                  <a:tcPr/>
                </a:tc>
                <a:extLst>
                  <a:ext uri="{0D108BD9-81ED-4DB2-BD59-A6C34878D82A}">
                    <a16:rowId xmlns:a16="http://schemas.microsoft.com/office/drawing/2014/main" val="2501057089"/>
                  </a:ext>
                </a:extLst>
              </a:tr>
              <a:tr h="370840">
                <a:tc>
                  <a:txBody>
                    <a:bodyPr/>
                    <a:lstStyle/>
                    <a:p>
                      <a:r>
                        <a:rPr lang="en-IN" dirty="0"/>
                        <a:t>Invoice</a:t>
                      </a:r>
                    </a:p>
                  </a:txBody>
                  <a:tcPr/>
                </a:tc>
                <a:tc>
                  <a:txBody>
                    <a:bodyPr/>
                    <a:lstStyle/>
                    <a:p>
                      <a:r>
                        <a:rPr lang="en-IN" dirty="0"/>
                        <a:t>invoice-id, order-id, payment-id, invoice-date, amount, tax, total-amount, pdf-path </a:t>
                      </a:r>
                    </a:p>
                  </a:txBody>
                  <a:tcPr/>
                </a:tc>
                <a:extLst>
                  <a:ext uri="{0D108BD9-81ED-4DB2-BD59-A6C34878D82A}">
                    <a16:rowId xmlns:a16="http://schemas.microsoft.com/office/drawing/2014/main" val="2471121145"/>
                  </a:ext>
                </a:extLst>
              </a:tr>
              <a:tr h="370840">
                <a:tc>
                  <a:txBody>
                    <a:bodyPr/>
                    <a:lstStyle/>
                    <a:p>
                      <a:r>
                        <a:rPr lang="en-IN" dirty="0"/>
                        <a:t>Cancelled Order</a:t>
                      </a:r>
                    </a:p>
                  </a:txBody>
                  <a:tcPr/>
                </a:tc>
                <a:tc>
                  <a:txBody>
                    <a:bodyPr/>
                    <a:lstStyle/>
                    <a:p>
                      <a:r>
                        <a:rPr lang="en-IN" dirty="0"/>
                        <a:t>cancel-id, order-id, cancel-reason, cancelled-date</a:t>
                      </a:r>
                    </a:p>
                  </a:txBody>
                  <a:tcPr/>
                </a:tc>
                <a:extLst>
                  <a:ext uri="{0D108BD9-81ED-4DB2-BD59-A6C34878D82A}">
                    <a16:rowId xmlns:a16="http://schemas.microsoft.com/office/drawing/2014/main" val="1591432803"/>
                  </a:ext>
                </a:extLst>
              </a:tr>
            </a:tbl>
          </a:graphicData>
        </a:graphic>
      </p:graphicFrame>
    </p:spTree>
    <p:extLst>
      <p:ext uri="{BB962C8B-B14F-4D97-AF65-F5344CB8AC3E}">
        <p14:creationId xmlns:p14="http://schemas.microsoft.com/office/powerpoint/2010/main" val="360473676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10E4F80-7D59-D6B8-EEED-329E4EA27BDB}"/>
              </a:ext>
            </a:extLst>
          </p:cNvPr>
          <p:cNvSpPr>
            <a:spLocks noGrp="1"/>
          </p:cNvSpPr>
          <p:nvPr>
            <p:ph type="title"/>
          </p:nvPr>
        </p:nvSpPr>
        <p:spPr>
          <a:xfrm>
            <a:off x="838200" y="216310"/>
            <a:ext cx="10515600" cy="393290"/>
          </a:xfrm>
        </p:spPr>
        <p:txBody>
          <a:bodyPr>
            <a:normAutofit fontScale="90000"/>
          </a:bodyPr>
          <a:lstStyle/>
          <a:p>
            <a:pPr algn="ctr"/>
            <a:r>
              <a:rPr lang="en-IN" sz="2400" dirty="0"/>
              <a:t>Relationships Between Tables / Entities </a:t>
            </a:r>
          </a:p>
        </p:txBody>
      </p:sp>
      <p:graphicFrame>
        <p:nvGraphicFramePr>
          <p:cNvPr id="4" name="Content Placeholder 3">
            <a:extLst>
              <a:ext uri="{FF2B5EF4-FFF2-40B4-BE49-F238E27FC236}">
                <a16:creationId xmlns:a16="http://schemas.microsoft.com/office/drawing/2014/main" id="{9984988C-2350-1626-F84D-1E0DA3CF0B3C}"/>
              </a:ext>
            </a:extLst>
          </p:cNvPr>
          <p:cNvGraphicFramePr>
            <a:graphicFrameLocks noGrp="1"/>
          </p:cNvGraphicFramePr>
          <p:nvPr>
            <p:ph idx="1"/>
            <p:extLst>
              <p:ext uri="{D42A27DB-BD31-4B8C-83A1-F6EECF244321}">
                <p14:modId xmlns:p14="http://schemas.microsoft.com/office/powerpoint/2010/main" val="3152626973"/>
              </p:ext>
            </p:extLst>
          </p:nvPr>
        </p:nvGraphicFramePr>
        <p:xfrm>
          <a:off x="838200" y="816077"/>
          <a:ext cx="10515600" cy="5732205"/>
        </p:xfrm>
        <a:graphic>
          <a:graphicData uri="http://schemas.openxmlformats.org/drawingml/2006/table">
            <a:tbl>
              <a:tblPr firstRow="1" bandRow="1">
                <a:tableStyleId>{5C22544A-7EE6-4342-B048-85BDC9FD1C3A}</a:tableStyleId>
              </a:tblPr>
              <a:tblGrid>
                <a:gridCol w="2628900">
                  <a:extLst>
                    <a:ext uri="{9D8B030D-6E8A-4147-A177-3AD203B41FA5}">
                      <a16:colId xmlns:a16="http://schemas.microsoft.com/office/drawing/2014/main" val="4081852922"/>
                    </a:ext>
                  </a:extLst>
                </a:gridCol>
                <a:gridCol w="2628900">
                  <a:extLst>
                    <a:ext uri="{9D8B030D-6E8A-4147-A177-3AD203B41FA5}">
                      <a16:colId xmlns:a16="http://schemas.microsoft.com/office/drawing/2014/main" val="20721805"/>
                    </a:ext>
                  </a:extLst>
                </a:gridCol>
                <a:gridCol w="2628900">
                  <a:extLst>
                    <a:ext uri="{9D8B030D-6E8A-4147-A177-3AD203B41FA5}">
                      <a16:colId xmlns:a16="http://schemas.microsoft.com/office/drawing/2014/main" val="2354911075"/>
                    </a:ext>
                  </a:extLst>
                </a:gridCol>
                <a:gridCol w="2628900">
                  <a:extLst>
                    <a:ext uri="{9D8B030D-6E8A-4147-A177-3AD203B41FA5}">
                      <a16:colId xmlns:a16="http://schemas.microsoft.com/office/drawing/2014/main" val="4131183369"/>
                    </a:ext>
                  </a:extLst>
                </a:gridCol>
              </a:tblGrid>
              <a:tr h="382147">
                <a:tc>
                  <a:txBody>
                    <a:bodyPr/>
                    <a:lstStyle/>
                    <a:p>
                      <a:r>
                        <a:rPr lang="en-IN" dirty="0"/>
                        <a:t>Entity 1 </a:t>
                      </a:r>
                    </a:p>
                  </a:txBody>
                  <a:tcPr/>
                </a:tc>
                <a:tc>
                  <a:txBody>
                    <a:bodyPr/>
                    <a:lstStyle/>
                    <a:p>
                      <a:r>
                        <a:rPr lang="en-IN" dirty="0"/>
                        <a:t>Relationship</a:t>
                      </a:r>
                    </a:p>
                  </a:txBody>
                  <a:tcPr/>
                </a:tc>
                <a:tc>
                  <a:txBody>
                    <a:bodyPr/>
                    <a:lstStyle/>
                    <a:p>
                      <a:r>
                        <a:rPr lang="en-IN" dirty="0"/>
                        <a:t>Entity 2 </a:t>
                      </a:r>
                    </a:p>
                  </a:txBody>
                  <a:tcPr/>
                </a:tc>
                <a:tc>
                  <a:txBody>
                    <a:bodyPr/>
                    <a:lstStyle/>
                    <a:p>
                      <a:r>
                        <a:rPr lang="en-IN" dirty="0"/>
                        <a:t>Cardinality</a:t>
                      </a:r>
                    </a:p>
                  </a:txBody>
                  <a:tcPr/>
                </a:tc>
                <a:extLst>
                  <a:ext uri="{0D108BD9-81ED-4DB2-BD59-A6C34878D82A}">
                    <a16:rowId xmlns:a16="http://schemas.microsoft.com/office/drawing/2014/main" val="4135109670"/>
                  </a:ext>
                </a:extLst>
              </a:tr>
              <a:tr h="382147">
                <a:tc>
                  <a:txBody>
                    <a:bodyPr/>
                    <a:lstStyle/>
                    <a:p>
                      <a:r>
                        <a:rPr lang="en-IN" dirty="0"/>
                        <a:t>Supplier </a:t>
                      </a:r>
                    </a:p>
                  </a:txBody>
                  <a:tcPr/>
                </a:tc>
                <a:tc>
                  <a:txBody>
                    <a:bodyPr/>
                    <a:lstStyle/>
                    <a:p>
                      <a:r>
                        <a:rPr lang="en-IN" dirty="0"/>
                        <a:t>supplies </a:t>
                      </a:r>
                    </a:p>
                  </a:txBody>
                  <a:tcPr/>
                </a:tc>
                <a:tc>
                  <a:txBody>
                    <a:bodyPr/>
                    <a:lstStyle/>
                    <a:p>
                      <a:r>
                        <a:rPr lang="en-IN" dirty="0"/>
                        <a:t>Material</a:t>
                      </a:r>
                    </a:p>
                  </a:txBody>
                  <a:tcPr/>
                </a:tc>
                <a:tc>
                  <a:txBody>
                    <a:bodyPr/>
                    <a:lstStyle/>
                    <a:p>
                      <a:r>
                        <a:rPr lang="en-US" dirty="0"/>
                        <a:t>1:M</a:t>
                      </a:r>
                      <a:endParaRPr lang="en-IN" dirty="0"/>
                    </a:p>
                  </a:txBody>
                  <a:tcPr/>
                </a:tc>
                <a:extLst>
                  <a:ext uri="{0D108BD9-81ED-4DB2-BD59-A6C34878D82A}">
                    <a16:rowId xmlns:a16="http://schemas.microsoft.com/office/drawing/2014/main" val="2534426512"/>
                  </a:ext>
                </a:extLst>
              </a:tr>
              <a:tr h="382147">
                <a:tc>
                  <a:txBody>
                    <a:bodyPr/>
                    <a:lstStyle/>
                    <a:p>
                      <a:r>
                        <a:rPr lang="en-IN" dirty="0"/>
                        <a:t>Customer </a:t>
                      </a:r>
                    </a:p>
                  </a:txBody>
                  <a:tcPr/>
                </a:tc>
                <a:tc>
                  <a:txBody>
                    <a:bodyPr/>
                    <a:lstStyle/>
                    <a:p>
                      <a:r>
                        <a:rPr lang="en-IN" dirty="0"/>
                        <a:t>places </a:t>
                      </a:r>
                    </a:p>
                  </a:txBody>
                  <a:tcPr/>
                </a:tc>
                <a:tc>
                  <a:txBody>
                    <a:bodyPr/>
                    <a:lstStyle/>
                    <a:p>
                      <a:r>
                        <a:rPr lang="en-IN" dirty="0"/>
                        <a:t>Order</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1:M</a:t>
                      </a:r>
                      <a:endParaRPr lang="en-IN" dirty="0"/>
                    </a:p>
                  </a:txBody>
                  <a:tcPr/>
                </a:tc>
                <a:extLst>
                  <a:ext uri="{0D108BD9-81ED-4DB2-BD59-A6C34878D82A}">
                    <a16:rowId xmlns:a16="http://schemas.microsoft.com/office/drawing/2014/main" val="226323920"/>
                  </a:ext>
                </a:extLst>
              </a:tr>
              <a:tr h="382147">
                <a:tc>
                  <a:txBody>
                    <a:bodyPr/>
                    <a:lstStyle/>
                    <a:p>
                      <a:r>
                        <a:rPr lang="en-IN" dirty="0"/>
                        <a:t>Concrete Mix </a:t>
                      </a:r>
                    </a:p>
                  </a:txBody>
                  <a:tcPr/>
                </a:tc>
                <a:tc>
                  <a:txBody>
                    <a:bodyPr/>
                    <a:lstStyle/>
                    <a:p>
                      <a:r>
                        <a:rPr lang="en-IN" dirty="0"/>
                        <a:t>used in </a:t>
                      </a:r>
                    </a:p>
                  </a:txBody>
                  <a:tcPr/>
                </a:tc>
                <a:tc>
                  <a:txBody>
                    <a:bodyPr/>
                    <a:lstStyle/>
                    <a:p>
                      <a:r>
                        <a:rPr lang="en-IN" dirty="0"/>
                        <a:t>Order </a:t>
                      </a:r>
                      <a:r>
                        <a:rPr lang="en-IN" dirty="0" err="1"/>
                        <a:t>Order</a:t>
                      </a:r>
                      <a:r>
                        <a:rPr lang="en-IN" dirty="0"/>
                        <a:t> </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1:M</a:t>
                      </a:r>
                      <a:endParaRPr lang="en-IN" dirty="0"/>
                    </a:p>
                  </a:txBody>
                  <a:tcPr/>
                </a:tc>
                <a:extLst>
                  <a:ext uri="{0D108BD9-81ED-4DB2-BD59-A6C34878D82A}">
                    <a16:rowId xmlns:a16="http://schemas.microsoft.com/office/drawing/2014/main" val="2071527711"/>
                  </a:ext>
                </a:extLst>
              </a:tr>
              <a:tr h="382147">
                <a:tc>
                  <a:txBody>
                    <a:bodyPr/>
                    <a:lstStyle/>
                    <a:p>
                      <a:r>
                        <a:rPr lang="en-IN" dirty="0"/>
                        <a:t>Order </a:t>
                      </a:r>
                    </a:p>
                  </a:txBody>
                  <a:tcPr/>
                </a:tc>
                <a:tc>
                  <a:txBody>
                    <a:bodyPr/>
                    <a:lstStyle/>
                    <a:p>
                      <a:r>
                        <a:rPr lang="en-US" dirty="0"/>
                        <a:t>has</a:t>
                      </a:r>
                      <a:endParaRPr lang="en-IN" dirty="0"/>
                    </a:p>
                  </a:txBody>
                  <a:tcPr/>
                </a:tc>
                <a:tc>
                  <a:txBody>
                    <a:bodyPr/>
                    <a:lstStyle/>
                    <a:p>
                      <a:r>
                        <a:rPr lang="en-IN" dirty="0"/>
                        <a:t>Payment </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1:M</a:t>
                      </a:r>
                      <a:endParaRPr lang="en-IN" dirty="0"/>
                    </a:p>
                  </a:txBody>
                  <a:tcPr/>
                </a:tc>
                <a:extLst>
                  <a:ext uri="{0D108BD9-81ED-4DB2-BD59-A6C34878D82A}">
                    <a16:rowId xmlns:a16="http://schemas.microsoft.com/office/drawing/2014/main" val="2087505530"/>
                  </a:ext>
                </a:extLst>
              </a:tr>
              <a:tr h="382147">
                <a:tc>
                  <a:txBody>
                    <a:bodyPr/>
                    <a:lstStyle/>
                    <a:p>
                      <a:r>
                        <a:rPr lang="en-IN" dirty="0"/>
                        <a:t>Admin </a:t>
                      </a:r>
                    </a:p>
                  </a:txBody>
                  <a:tcPr/>
                </a:tc>
                <a:tc>
                  <a:txBody>
                    <a:bodyPr/>
                    <a:lstStyle/>
                    <a:p>
                      <a:r>
                        <a:rPr lang="en-IN" dirty="0"/>
                        <a:t>manages </a:t>
                      </a:r>
                    </a:p>
                  </a:txBody>
                  <a:tcPr/>
                </a:tc>
                <a:tc>
                  <a:txBody>
                    <a:bodyPr/>
                    <a:lstStyle/>
                    <a:p>
                      <a:r>
                        <a:rPr lang="en-IN" dirty="0"/>
                        <a:t>Order</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1:M</a:t>
                      </a:r>
                      <a:endParaRPr lang="en-IN" dirty="0"/>
                    </a:p>
                  </a:txBody>
                  <a:tcPr/>
                </a:tc>
                <a:extLst>
                  <a:ext uri="{0D108BD9-81ED-4DB2-BD59-A6C34878D82A}">
                    <a16:rowId xmlns:a16="http://schemas.microsoft.com/office/drawing/2014/main" val="2645822809"/>
                  </a:ext>
                </a:extLst>
              </a:tr>
              <a:tr h="382147">
                <a:tc>
                  <a:txBody>
                    <a:bodyPr/>
                    <a:lstStyle/>
                    <a:p>
                      <a:r>
                        <a:rPr lang="en-IN" dirty="0"/>
                        <a:t>Admin</a:t>
                      </a:r>
                    </a:p>
                  </a:txBody>
                  <a:tcPr/>
                </a:tc>
                <a:tc>
                  <a:txBody>
                    <a:bodyPr/>
                    <a:lstStyle/>
                    <a:p>
                      <a:r>
                        <a:rPr lang="en-IN" dirty="0"/>
                        <a:t>manages </a:t>
                      </a:r>
                    </a:p>
                  </a:txBody>
                  <a:tcPr/>
                </a:tc>
                <a:tc>
                  <a:txBody>
                    <a:bodyPr/>
                    <a:lstStyle/>
                    <a:p>
                      <a:r>
                        <a:rPr lang="en-IN" dirty="0"/>
                        <a:t>Staff </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1:M</a:t>
                      </a:r>
                      <a:endParaRPr lang="en-IN" dirty="0"/>
                    </a:p>
                  </a:txBody>
                  <a:tcPr/>
                </a:tc>
                <a:extLst>
                  <a:ext uri="{0D108BD9-81ED-4DB2-BD59-A6C34878D82A}">
                    <a16:rowId xmlns:a16="http://schemas.microsoft.com/office/drawing/2014/main" val="281148850"/>
                  </a:ext>
                </a:extLst>
              </a:tr>
              <a:tr h="382147">
                <a:tc>
                  <a:txBody>
                    <a:bodyPr/>
                    <a:lstStyle/>
                    <a:p>
                      <a:r>
                        <a:rPr lang="en-IN" dirty="0"/>
                        <a:t>Admin</a:t>
                      </a:r>
                    </a:p>
                  </a:txBody>
                  <a:tcPr/>
                </a:tc>
                <a:tc>
                  <a:txBody>
                    <a:bodyPr/>
                    <a:lstStyle/>
                    <a:p>
                      <a:r>
                        <a:rPr lang="en-IN" dirty="0"/>
                        <a:t>creates </a:t>
                      </a:r>
                    </a:p>
                  </a:txBody>
                  <a:tcPr/>
                </a:tc>
                <a:tc>
                  <a:txBody>
                    <a:bodyPr/>
                    <a:lstStyle/>
                    <a:p>
                      <a:r>
                        <a:rPr lang="en-IN" dirty="0"/>
                        <a:t>Invoice</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1:M</a:t>
                      </a:r>
                      <a:endParaRPr lang="en-IN" dirty="0"/>
                    </a:p>
                  </a:txBody>
                  <a:tcPr/>
                </a:tc>
                <a:extLst>
                  <a:ext uri="{0D108BD9-81ED-4DB2-BD59-A6C34878D82A}">
                    <a16:rowId xmlns:a16="http://schemas.microsoft.com/office/drawing/2014/main" val="3995344588"/>
                  </a:ext>
                </a:extLst>
              </a:tr>
              <a:tr h="382147">
                <a:tc>
                  <a:txBody>
                    <a:bodyPr/>
                    <a:lstStyle/>
                    <a:p>
                      <a:r>
                        <a:rPr lang="en-IN" dirty="0"/>
                        <a:t>Customer</a:t>
                      </a:r>
                    </a:p>
                  </a:txBody>
                  <a:tcPr/>
                </a:tc>
                <a:tc>
                  <a:txBody>
                    <a:bodyPr/>
                    <a:lstStyle/>
                    <a:p>
                      <a:r>
                        <a:rPr lang="en-IN" dirty="0"/>
                        <a:t>makes </a:t>
                      </a:r>
                    </a:p>
                  </a:txBody>
                  <a:tcPr/>
                </a:tc>
                <a:tc>
                  <a:txBody>
                    <a:bodyPr/>
                    <a:lstStyle/>
                    <a:p>
                      <a:r>
                        <a:rPr lang="en-IN" dirty="0"/>
                        <a:t>Payment</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1:M</a:t>
                      </a:r>
                      <a:endParaRPr lang="en-IN" dirty="0"/>
                    </a:p>
                  </a:txBody>
                  <a:tcPr/>
                </a:tc>
                <a:extLst>
                  <a:ext uri="{0D108BD9-81ED-4DB2-BD59-A6C34878D82A}">
                    <a16:rowId xmlns:a16="http://schemas.microsoft.com/office/drawing/2014/main" val="1434130831"/>
                  </a:ext>
                </a:extLst>
              </a:tr>
              <a:tr h="382147">
                <a:tc>
                  <a:txBody>
                    <a:bodyPr/>
                    <a:lstStyle/>
                    <a:p>
                      <a:r>
                        <a:rPr lang="en-IN" dirty="0"/>
                        <a:t>Order</a:t>
                      </a:r>
                    </a:p>
                  </a:txBody>
                  <a:tcPr/>
                </a:tc>
                <a:tc>
                  <a:txBody>
                    <a:bodyPr/>
                    <a:lstStyle/>
                    <a:p>
                      <a:r>
                        <a:rPr lang="en-US" dirty="0"/>
                        <a:t>has</a:t>
                      </a:r>
                      <a:endParaRPr lang="en-IN" dirty="0"/>
                    </a:p>
                  </a:txBody>
                  <a:tcPr/>
                </a:tc>
                <a:tc>
                  <a:txBody>
                    <a:bodyPr/>
                    <a:lstStyle/>
                    <a:p>
                      <a:r>
                        <a:rPr lang="en-IN" dirty="0"/>
                        <a:t>Delivery </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1:M</a:t>
                      </a:r>
                      <a:endParaRPr lang="en-IN" dirty="0"/>
                    </a:p>
                  </a:txBody>
                  <a:tcPr/>
                </a:tc>
                <a:extLst>
                  <a:ext uri="{0D108BD9-81ED-4DB2-BD59-A6C34878D82A}">
                    <a16:rowId xmlns:a16="http://schemas.microsoft.com/office/drawing/2014/main" val="2791051560"/>
                  </a:ext>
                </a:extLst>
              </a:tr>
              <a:tr h="382147">
                <a:tc>
                  <a:txBody>
                    <a:bodyPr/>
                    <a:lstStyle/>
                    <a:p>
                      <a:r>
                        <a:rPr lang="en-IN" dirty="0"/>
                        <a:t>Staff</a:t>
                      </a:r>
                    </a:p>
                  </a:txBody>
                  <a:tcPr/>
                </a:tc>
                <a:tc>
                  <a:txBody>
                    <a:bodyPr/>
                    <a:lstStyle/>
                    <a:p>
                      <a:r>
                        <a:rPr lang="en-IN" dirty="0"/>
                        <a:t>handles </a:t>
                      </a:r>
                    </a:p>
                  </a:txBody>
                  <a:tcPr/>
                </a:tc>
                <a:tc>
                  <a:txBody>
                    <a:bodyPr/>
                    <a:lstStyle/>
                    <a:p>
                      <a:r>
                        <a:rPr lang="en-IN" dirty="0"/>
                        <a:t>Delivery </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1:M</a:t>
                      </a:r>
                      <a:endParaRPr lang="en-IN" dirty="0"/>
                    </a:p>
                  </a:txBody>
                  <a:tcPr/>
                </a:tc>
                <a:extLst>
                  <a:ext uri="{0D108BD9-81ED-4DB2-BD59-A6C34878D82A}">
                    <a16:rowId xmlns:a16="http://schemas.microsoft.com/office/drawing/2014/main" val="3365561744"/>
                  </a:ext>
                </a:extLst>
              </a:tr>
              <a:tr h="382147">
                <a:tc>
                  <a:txBody>
                    <a:bodyPr/>
                    <a:lstStyle/>
                    <a:p>
                      <a:r>
                        <a:rPr lang="en-IN" dirty="0"/>
                        <a:t>Delivery Vehicle </a:t>
                      </a:r>
                    </a:p>
                  </a:txBody>
                  <a:tcPr/>
                </a:tc>
                <a:tc>
                  <a:txBody>
                    <a:bodyPr/>
                    <a:lstStyle/>
                    <a:p>
                      <a:r>
                        <a:rPr lang="en-IN" dirty="0"/>
                        <a:t>used for </a:t>
                      </a:r>
                    </a:p>
                  </a:txBody>
                  <a:tcPr/>
                </a:tc>
                <a:tc>
                  <a:txBody>
                    <a:bodyPr/>
                    <a:lstStyle/>
                    <a:p>
                      <a:r>
                        <a:rPr lang="en-IN" dirty="0"/>
                        <a:t>Delivery </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1:M</a:t>
                      </a:r>
                      <a:endParaRPr lang="en-IN" dirty="0"/>
                    </a:p>
                  </a:txBody>
                  <a:tcPr/>
                </a:tc>
                <a:extLst>
                  <a:ext uri="{0D108BD9-81ED-4DB2-BD59-A6C34878D82A}">
                    <a16:rowId xmlns:a16="http://schemas.microsoft.com/office/drawing/2014/main" val="2853412944"/>
                  </a:ext>
                </a:extLst>
              </a:tr>
              <a:tr h="382147">
                <a:tc>
                  <a:txBody>
                    <a:bodyPr/>
                    <a:lstStyle/>
                    <a:p>
                      <a:r>
                        <a:rPr lang="en-IN" dirty="0"/>
                        <a:t>Order </a:t>
                      </a:r>
                    </a:p>
                  </a:txBody>
                  <a:tcPr/>
                </a:tc>
                <a:tc>
                  <a:txBody>
                    <a:bodyPr/>
                    <a:lstStyle/>
                    <a:p>
                      <a:r>
                        <a:rPr lang="en-US" dirty="0"/>
                        <a:t>has</a:t>
                      </a:r>
                      <a:endParaRPr lang="en-IN" dirty="0"/>
                    </a:p>
                  </a:txBody>
                  <a:tcPr/>
                </a:tc>
                <a:tc>
                  <a:txBody>
                    <a:bodyPr/>
                    <a:lstStyle/>
                    <a:p>
                      <a:r>
                        <a:rPr lang="en-IN" dirty="0"/>
                        <a:t>Invoice</a:t>
                      </a:r>
                    </a:p>
                  </a:txBody>
                  <a:tcPr/>
                </a:tc>
                <a:tc>
                  <a:txBody>
                    <a:bodyPr/>
                    <a:lstStyle/>
                    <a:p>
                      <a:r>
                        <a:rPr lang="en-US" dirty="0"/>
                        <a:t>1:1</a:t>
                      </a:r>
                      <a:endParaRPr lang="en-IN" dirty="0"/>
                    </a:p>
                  </a:txBody>
                  <a:tcPr/>
                </a:tc>
                <a:extLst>
                  <a:ext uri="{0D108BD9-81ED-4DB2-BD59-A6C34878D82A}">
                    <a16:rowId xmlns:a16="http://schemas.microsoft.com/office/drawing/2014/main" val="3569560229"/>
                  </a:ext>
                </a:extLst>
              </a:tr>
              <a:tr h="382147">
                <a:tc>
                  <a:txBody>
                    <a:bodyPr/>
                    <a:lstStyle/>
                    <a:p>
                      <a:r>
                        <a:rPr lang="en-IN" dirty="0"/>
                        <a:t>Order </a:t>
                      </a:r>
                    </a:p>
                  </a:txBody>
                  <a:tcPr/>
                </a:tc>
                <a:tc>
                  <a:txBody>
                    <a:bodyPr/>
                    <a:lstStyle/>
                    <a:p>
                      <a:r>
                        <a:rPr lang="en-IN" dirty="0"/>
                        <a:t>may have </a:t>
                      </a:r>
                    </a:p>
                  </a:txBody>
                  <a:tcPr/>
                </a:tc>
                <a:tc>
                  <a:txBody>
                    <a:bodyPr/>
                    <a:lstStyle/>
                    <a:p>
                      <a:r>
                        <a:rPr lang="en-IN" dirty="0"/>
                        <a:t>Cancelled Order </a:t>
                      </a:r>
                    </a:p>
                  </a:txBody>
                  <a:tcPr/>
                </a:tc>
                <a:tc>
                  <a:txBody>
                    <a:bodyPr/>
                    <a:lstStyle/>
                    <a:p>
                      <a:r>
                        <a:rPr lang="en-US" dirty="0"/>
                        <a:t>1:1</a:t>
                      </a:r>
                      <a:endParaRPr lang="en-IN" dirty="0"/>
                    </a:p>
                  </a:txBody>
                  <a:tcPr/>
                </a:tc>
                <a:extLst>
                  <a:ext uri="{0D108BD9-81ED-4DB2-BD59-A6C34878D82A}">
                    <a16:rowId xmlns:a16="http://schemas.microsoft.com/office/drawing/2014/main" val="2282319554"/>
                  </a:ext>
                </a:extLst>
              </a:tr>
              <a:tr h="382147">
                <a:tc>
                  <a:txBody>
                    <a:bodyPr/>
                    <a:lstStyle/>
                    <a:p>
                      <a:r>
                        <a:rPr lang="en-IN" dirty="0"/>
                        <a:t>Material </a:t>
                      </a:r>
                    </a:p>
                  </a:txBody>
                  <a:tcPr/>
                </a:tc>
                <a:tc>
                  <a:txBody>
                    <a:bodyPr/>
                    <a:lstStyle/>
                    <a:p>
                      <a:r>
                        <a:rPr lang="en-IN" dirty="0"/>
                        <a:t>used in</a:t>
                      </a:r>
                    </a:p>
                  </a:txBody>
                  <a:tcPr/>
                </a:tc>
                <a:tc>
                  <a:txBody>
                    <a:bodyPr/>
                    <a:lstStyle/>
                    <a:p>
                      <a:r>
                        <a:rPr lang="en-IN" dirty="0"/>
                        <a:t>Concrete Mix</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1:M</a:t>
                      </a:r>
                      <a:endParaRPr lang="en-IN" dirty="0"/>
                    </a:p>
                  </a:txBody>
                  <a:tcPr/>
                </a:tc>
                <a:extLst>
                  <a:ext uri="{0D108BD9-81ED-4DB2-BD59-A6C34878D82A}">
                    <a16:rowId xmlns:a16="http://schemas.microsoft.com/office/drawing/2014/main" val="1718840762"/>
                  </a:ext>
                </a:extLst>
              </a:tr>
            </a:tbl>
          </a:graphicData>
        </a:graphic>
      </p:graphicFrame>
    </p:spTree>
    <p:extLst>
      <p:ext uri="{BB962C8B-B14F-4D97-AF65-F5344CB8AC3E}">
        <p14:creationId xmlns:p14="http://schemas.microsoft.com/office/powerpoint/2010/main" val="74930437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F67379F-3237-F7CC-824F-412277C17F12}"/>
              </a:ext>
            </a:extLst>
          </p:cNvPr>
          <p:cNvSpPr>
            <a:spLocks noGrp="1"/>
          </p:cNvSpPr>
          <p:nvPr>
            <p:ph type="title"/>
          </p:nvPr>
        </p:nvSpPr>
        <p:spPr/>
        <p:txBody>
          <a:bodyPr/>
          <a:lstStyle/>
          <a:p>
            <a:endParaRPr lang="en-IN" dirty="0"/>
          </a:p>
        </p:txBody>
      </p:sp>
      <p:pic>
        <p:nvPicPr>
          <p:cNvPr id="5" name="Content Placeholder 4">
            <a:extLst>
              <a:ext uri="{FF2B5EF4-FFF2-40B4-BE49-F238E27FC236}">
                <a16:creationId xmlns:a16="http://schemas.microsoft.com/office/drawing/2014/main" id="{B1B05CFB-09C1-399B-0058-F687374D6D66}"/>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737419" y="245806"/>
            <a:ext cx="10736826" cy="6390967"/>
          </a:xfrm>
          <a:prstGeom prst="rect">
            <a:avLst/>
          </a:prstGeom>
        </p:spPr>
      </p:pic>
    </p:spTree>
    <p:extLst>
      <p:ext uri="{BB962C8B-B14F-4D97-AF65-F5344CB8AC3E}">
        <p14:creationId xmlns:p14="http://schemas.microsoft.com/office/powerpoint/2010/main" val="63288906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DF4E095-B8B2-7764-4E3F-340BE0C66069}"/>
              </a:ext>
            </a:extLst>
          </p:cNvPr>
          <p:cNvSpPr>
            <a:spLocks noGrp="1"/>
          </p:cNvSpPr>
          <p:nvPr>
            <p:ph type="title"/>
          </p:nvPr>
        </p:nvSpPr>
        <p:spPr/>
        <p:txBody>
          <a:bodyPr/>
          <a:lstStyle/>
          <a:p>
            <a:endParaRPr lang="en-IN"/>
          </a:p>
        </p:txBody>
      </p:sp>
      <p:pic>
        <p:nvPicPr>
          <p:cNvPr id="5" name="Content Placeholder 4">
            <a:extLst>
              <a:ext uri="{FF2B5EF4-FFF2-40B4-BE49-F238E27FC236}">
                <a16:creationId xmlns:a16="http://schemas.microsoft.com/office/drawing/2014/main" id="{AA934F3F-814A-2694-4CE1-4090FB2B0E40}"/>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757085" y="285135"/>
            <a:ext cx="10726992" cy="5891828"/>
          </a:xfrm>
          <a:prstGeom prst="rect">
            <a:avLst/>
          </a:prstGeom>
        </p:spPr>
      </p:pic>
    </p:spTree>
    <p:extLst>
      <p:ext uri="{BB962C8B-B14F-4D97-AF65-F5344CB8AC3E}">
        <p14:creationId xmlns:p14="http://schemas.microsoft.com/office/powerpoint/2010/main" val="158080796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09B4BA0-CB4F-BAFE-9689-AEFA324B21AF}"/>
              </a:ext>
            </a:extLst>
          </p:cNvPr>
          <p:cNvSpPr>
            <a:spLocks noGrp="1"/>
          </p:cNvSpPr>
          <p:nvPr>
            <p:ph type="title"/>
          </p:nvPr>
        </p:nvSpPr>
        <p:spPr/>
        <p:txBody>
          <a:bodyPr/>
          <a:lstStyle/>
          <a:p>
            <a:endParaRPr lang="en-IN"/>
          </a:p>
        </p:txBody>
      </p:sp>
      <p:pic>
        <p:nvPicPr>
          <p:cNvPr id="5" name="Content Placeholder 4">
            <a:extLst>
              <a:ext uri="{FF2B5EF4-FFF2-40B4-BE49-F238E27FC236}">
                <a16:creationId xmlns:a16="http://schemas.microsoft.com/office/drawing/2014/main" id="{06E3F2BF-BAD6-E748-81C8-292F4EF874CC}"/>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717755" y="255638"/>
            <a:ext cx="10815483" cy="6695767"/>
          </a:xfrm>
          <a:prstGeom prst="rect">
            <a:avLst/>
          </a:prstGeom>
        </p:spPr>
      </p:pic>
    </p:spTree>
    <p:extLst>
      <p:ext uri="{BB962C8B-B14F-4D97-AF65-F5344CB8AC3E}">
        <p14:creationId xmlns:p14="http://schemas.microsoft.com/office/powerpoint/2010/main" val="310141196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D7A1CF7-CD42-727C-CA2C-9D8A7191D14E}"/>
              </a:ext>
            </a:extLst>
          </p:cNvPr>
          <p:cNvSpPr>
            <a:spLocks noGrp="1"/>
          </p:cNvSpPr>
          <p:nvPr>
            <p:ph type="title"/>
          </p:nvPr>
        </p:nvSpPr>
        <p:spPr/>
        <p:txBody>
          <a:bodyPr/>
          <a:lstStyle/>
          <a:p>
            <a:endParaRPr lang="en-IN"/>
          </a:p>
        </p:txBody>
      </p:sp>
      <p:pic>
        <p:nvPicPr>
          <p:cNvPr id="9" name="Content Placeholder 8">
            <a:extLst>
              <a:ext uri="{FF2B5EF4-FFF2-40B4-BE49-F238E27FC236}">
                <a16:creationId xmlns:a16="http://schemas.microsoft.com/office/drawing/2014/main" id="{6E15291F-8740-7C46-CE6B-C5085F698291}"/>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747253" y="294968"/>
            <a:ext cx="10707328" cy="6115664"/>
          </a:xfrm>
          <a:prstGeom prst="rect">
            <a:avLst/>
          </a:prstGeom>
        </p:spPr>
      </p:pic>
    </p:spTree>
    <p:extLst>
      <p:ext uri="{BB962C8B-B14F-4D97-AF65-F5344CB8AC3E}">
        <p14:creationId xmlns:p14="http://schemas.microsoft.com/office/powerpoint/2010/main" val="381348680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4AFA642-6413-C777-15D3-2899090C3117}"/>
              </a:ext>
            </a:extLst>
          </p:cNvPr>
          <p:cNvSpPr>
            <a:spLocks noGrp="1"/>
          </p:cNvSpPr>
          <p:nvPr>
            <p:ph type="title"/>
          </p:nvPr>
        </p:nvSpPr>
        <p:spPr/>
        <p:txBody>
          <a:bodyPr/>
          <a:lstStyle/>
          <a:p>
            <a:endParaRPr lang="en-IN"/>
          </a:p>
        </p:txBody>
      </p:sp>
      <p:pic>
        <p:nvPicPr>
          <p:cNvPr id="5" name="Content Placeholder 4">
            <a:extLst>
              <a:ext uri="{FF2B5EF4-FFF2-40B4-BE49-F238E27FC236}">
                <a16:creationId xmlns:a16="http://schemas.microsoft.com/office/drawing/2014/main" id="{8E9EB6D6-C0A9-7056-F1AD-7B638AEC36ED}"/>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757084" y="285135"/>
            <a:ext cx="10766322" cy="5891828"/>
          </a:xfrm>
          <a:prstGeom prst="rect">
            <a:avLst/>
          </a:prstGeom>
        </p:spPr>
      </p:pic>
    </p:spTree>
    <p:extLst>
      <p:ext uri="{BB962C8B-B14F-4D97-AF65-F5344CB8AC3E}">
        <p14:creationId xmlns:p14="http://schemas.microsoft.com/office/powerpoint/2010/main" val="1541992434"/>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4FAC83F-27CE-2A57-83A2-B3888ED55AC8}"/>
              </a:ext>
            </a:extLst>
          </p:cNvPr>
          <p:cNvSpPr>
            <a:spLocks noGrp="1"/>
          </p:cNvSpPr>
          <p:nvPr>
            <p:ph type="title"/>
          </p:nvPr>
        </p:nvSpPr>
        <p:spPr/>
        <p:txBody>
          <a:bodyPr/>
          <a:lstStyle/>
          <a:p>
            <a:endParaRPr lang="en-IN"/>
          </a:p>
        </p:txBody>
      </p:sp>
      <p:pic>
        <p:nvPicPr>
          <p:cNvPr id="5" name="Content Placeholder 4">
            <a:extLst>
              <a:ext uri="{FF2B5EF4-FFF2-40B4-BE49-F238E27FC236}">
                <a16:creationId xmlns:a16="http://schemas.microsoft.com/office/drawing/2014/main" id="{89669483-7ED1-F8BF-A091-A5768A2324D6}"/>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688258" y="285134"/>
            <a:ext cx="10953136" cy="6499123"/>
          </a:xfrm>
          <a:prstGeom prst="rect">
            <a:avLst/>
          </a:prstGeom>
        </p:spPr>
      </p:pic>
    </p:spTree>
    <p:extLst>
      <p:ext uri="{BB962C8B-B14F-4D97-AF65-F5344CB8AC3E}">
        <p14:creationId xmlns:p14="http://schemas.microsoft.com/office/powerpoint/2010/main" val="1309021792"/>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5465CBB-D303-8A33-E449-18A6B3721A9B}"/>
              </a:ext>
            </a:extLst>
          </p:cNvPr>
          <p:cNvSpPr>
            <a:spLocks noGrp="1"/>
          </p:cNvSpPr>
          <p:nvPr>
            <p:ph type="title"/>
          </p:nvPr>
        </p:nvSpPr>
        <p:spPr/>
        <p:txBody>
          <a:bodyPr/>
          <a:lstStyle/>
          <a:p>
            <a:endParaRPr lang="en-IN"/>
          </a:p>
        </p:txBody>
      </p:sp>
      <p:pic>
        <p:nvPicPr>
          <p:cNvPr id="5" name="Content Placeholder 4">
            <a:extLst>
              <a:ext uri="{FF2B5EF4-FFF2-40B4-BE49-F238E27FC236}">
                <a16:creationId xmlns:a16="http://schemas.microsoft.com/office/drawing/2014/main" id="{B2B0B07A-51E3-3F7F-F1D7-D3D20022CF5F}"/>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757084" y="265471"/>
            <a:ext cx="10668000" cy="6420464"/>
          </a:xfrm>
          <a:prstGeom prst="rect">
            <a:avLst/>
          </a:prstGeom>
        </p:spPr>
      </p:pic>
    </p:spTree>
    <p:extLst>
      <p:ext uri="{BB962C8B-B14F-4D97-AF65-F5344CB8AC3E}">
        <p14:creationId xmlns:p14="http://schemas.microsoft.com/office/powerpoint/2010/main" val="3014869814"/>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403B80F-5017-59AB-5D5E-9E9EA0A3371E}"/>
              </a:ext>
            </a:extLst>
          </p:cNvPr>
          <p:cNvSpPr>
            <a:spLocks noGrp="1"/>
          </p:cNvSpPr>
          <p:nvPr>
            <p:ph type="title"/>
          </p:nvPr>
        </p:nvSpPr>
        <p:spPr/>
        <p:txBody>
          <a:bodyPr/>
          <a:lstStyle/>
          <a:p>
            <a:endParaRPr lang="en-IN" dirty="0"/>
          </a:p>
        </p:txBody>
      </p:sp>
      <p:pic>
        <p:nvPicPr>
          <p:cNvPr id="5" name="Content Placeholder 4">
            <a:extLst>
              <a:ext uri="{FF2B5EF4-FFF2-40B4-BE49-F238E27FC236}">
                <a16:creationId xmlns:a16="http://schemas.microsoft.com/office/drawing/2014/main" id="{E9862B8F-DDEE-FFA7-1EEF-77F8C16852FE}"/>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747252" y="0"/>
            <a:ext cx="10677832" cy="6715432"/>
          </a:xfrm>
          <a:prstGeom prst="rect">
            <a:avLst/>
          </a:prstGeom>
        </p:spPr>
      </p:pic>
    </p:spTree>
    <p:extLst>
      <p:ext uri="{BB962C8B-B14F-4D97-AF65-F5344CB8AC3E}">
        <p14:creationId xmlns:p14="http://schemas.microsoft.com/office/powerpoint/2010/main" val="2831289844"/>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68285ED-F115-AF04-341E-A260AF5715FB}"/>
              </a:ext>
            </a:extLst>
          </p:cNvPr>
          <p:cNvSpPr>
            <a:spLocks noGrp="1"/>
          </p:cNvSpPr>
          <p:nvPr>
            <p:ph type="title"/>
          </p:nvPr>
        </p:nvSpPr>
        <p:spPr/>
        <p:txBody>
          <a:bodyPr/>
          <a:lstStyle/>
          <a:p>
            <a:endParaRPr lang="en-IN"/>
          </a:p>
        </p:txBody>
      </p:sp>
      <p:pic>
        <p:nvPicPr>
          <p:cNvPr id="5" name="Content Placeholder 4">
            <a:extLst>
              <a:ext uri="{FF2B5EF4-FFF2-40B4-BE49-F238E27FC236}">
                <a16:creationId xmlns:a16="http://schemas.microsoft.com/office/drawing/2014/main" id="{7E76D051-E614-6D8C-C53B-C49469861951}"/>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737418" y="294968"/>
            <a:ext cx="10697497" cy="6272980"/>
          </a:xfrm>
          <a:prstGeom prst="rect">
            <a:avLst/>
          </a:prstGeom>
        </p:spPr>
      </p:pic>
    </p:spTree>
    <p:extLst>
      <p:ext uri="{BB962C8B-B14F-4D97-AF65-F5344CB8AC3E}">
        <p14:creationId xmlns:p14="http://schemas.microsoft.com/office/powerpoint/2010/main" val="895126228"/>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19CD560-766B-1A46-8EA1-3E15E0F01CB9}"/>
              </a:ext>
            </a:extLst>
          </p:cNvPr>
          <p:cNvSpPr>
            <a:spLocks noGrp="1"/>
          </p:cNvSpPr>
          <p:nvPr>
            <p:ph type="title"/>
          </p:nvPr>
        </p:nvSpPr>
        <p:spPr/>
        <p:txBody>
          <a:bodyPr/>
          <a:lstStyle/>
          <a:p>
            <a:endParaRPr lang="en-IN"/>
          </a:p>
        </p:txBody>
      </p:sp>
      <p:pic>
        <p:nvPicPr>
          <p:cNvPr id="5" name="Content Placeholder 4">
            <a:extLst>
              <a:ext uri="{FF2B5EF4-FFF2-40B4-BE49-F238E27FC236}">
                <a16:creationId xmlns:a16="http://schemas.microsoft.com/office/drawing/2014/main" id="{9E854E87-6614-A739-37BB-DB1B83F5BF7B}"/>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757084" y="294968"/>
            <a:ext cx="10707329" cy="6086167"/>
          </a:xfrm>
          <a:prstGeom prst="rect">
            <a:avLst/>
          </a:prstGeom>
        </p:spPr>
      </p:pic>
    </p:spTree>
    <p:extLst>
      <p:ext uri="{BB962C8B-B14F-4D97-AF65-F5344CB8AC3E}">
        <p14:creationId xmlns:p14="http://schemas.microsoft.com/office/powerpoint/2010/main" val="2413835785"/>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86</TotalTime>
  <Words>1736</Words>
  <Application>Microsoft Office PowerPoint</Application>
  <PresentationFormat>Widescreen</PresentationFormat>
  <Paragraphs>203</Paragraphs>
  <Slides>25</Slides>
  <Notes>2</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25</vt:i4>
      </vt:variant>
    </vt:vector>
  </HeadingPairs>
  <TitlesOfParts>
    <vt:vector size="29" baseType="lpstr">
      <vt:lpstr>Arial</vt:lpstr>
      <vt:lpstr>Calibri</vt:lpstr>
      <vt:lpstr>Calibri Light</vt:lpstr>
      <vt:lpstr>Office Theme</vt:lpstr>
      <vt:lpstr>RMC (Ready mix concrete) Management system</vt:lpstr>
      <vt:lpstr>Introduction</vt:lpstr>
      <vt:lpstr>Preliminary Investigation and its activity </vt:lpstr>
      <vt:lpstr>Problem identification</vt:lpstr>
      <vt:lpstr>Problem Definition </vt:lpstr>
      <vt:lpstr>Fact Finding Technique</vt:lpstr>
      <vt:lpstr>Fact Finding Technique</vt:lpstr>
      <vt:lpstr>Drawback of Existing system </vt:lpstr>
      <vt:lpstr>Feasibility Study</vt:lpstr>
      <vt:lpstr>Requirement Specification  Data Requirements of the RMC Management System</vt:lpstr>
      <vt:lpstr>End Users of the RMC Management System </vt:lpstr>
      <vt:lpstr>Functional and Non-Functional Requirements of RMC Management System Functional Requirements</vt:lpstr>
      <vt:lpstr>Non-Functional Requirements</vt:lpstr>
      <vt:lpstr>Database Design – Entities, Relationships and Attributes </vt:lpstr>
      <vt:lpstr>Relationships Between Tables / Entities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HP Inc.</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aryanwagh9161@outlook.com</dc:creator>
  <cp:lastModifiedBy>aryanwagh9161@outlook.com</cp:lastModifiedBy>
  <cp:revision>1</cp:revision>
  <dcterms:created xsi:type="dcterms:W3CDTF">2026-10-07T12:04:37Z</dcterms:created>
  <dcterms:modified xsi:type="dcterms:W3CDTF">2026-10-07T13:30:45Z</dcterms:modified>
</cp:coreProperties>
</file>